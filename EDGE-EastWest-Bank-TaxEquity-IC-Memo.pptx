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9" r:id="rId5"/>
    <p:sldId id="273" r:id="rId6"/>
    <p:sldId id="261" r:id="rId7"/>
    <p:sldId id="274" r:id="rId8"/>
    <p:sldId id="272" r:id="rId4"/>
    <p:sldId id="268" r:id="rId14"/>
    <p:sldId id="282" r:id="rId10"/>
    <p:sldId id="275" r:id="rId9"/>
    <p:sldId id="276" r:id="rId11"/>
    <p:sldId id="267" r:id="rId13"/>
    <p:sldId id="277" r:id="rId12"/>
    <p:sldId id="280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99" d="100"/>
          <a:sy n="99" d="100"/>
        </p:scale>
        <p:origin x="192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7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slide" Target="slides/slide12.xml"/><Relationship Id="rId14" Type="http://schemas.openxmlformats.org/officeDocument/2006/relationships/slide" Target="slides/slide8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CONFIDENTIAL  ·  PREPARED MAY 26,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Georgia"/>
              </a:rPr>
              <a:t>Solar Tax Equity Investment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E8D7A0"/>
                </a:solidFill>
                <a:latin typeface="Georgia"/>
              </a:rPr>
              <a:t>EDGE Energy  ×  EastWest Bank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228600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Sized to $50M Annual Tax Appetite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C9A961"/>
                </a:solidFill>
                <a:latin typeface="Georgia"/>
              </a:rPr>
              <a:t>$31.2M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2E8F0"/>
                </a:solidFill>
                <a:latin typeface="Calibri"/>
              </a:rPr>
              <a:t>Total commitment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6634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C9A961"/>
                </a:solidFill>
                <a:latin typeface="Georgia"/>
              </a:rPr>
              <a:t>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3492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2E8F0"/>
                </a:solidFill>
                <a:latin typeface="Calibri"/>
              </a:rPr>
              <a:t>After-tax IRR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6634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C9A961"/>
                </a:solidFill>
                <a:latin typeface="Georgia"/>
              </a:rPr>
              <a:t>$297M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3492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2E8F0"/>
                </a:solidFill>
                <a:latin typeface="Calibri"/>
              </a:rPr>
              <a:t>Total value captured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6634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C9A961"/>
                </a:solidFill>
                <a:latin typeface="Georgia"/>
              </a:rPr>
              <a:t>9.5×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3492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2E8F0"/>
                </a:solidFill>
                <a:latin typeface="Calibri"/>
              </a:rPr>
              <a:t>Tax-benefit MOIC  ·  8.5× 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6364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2E8F0"/>
                </a:solidFill>
                <a:latin typeface="Calibri"/>
              </a:rPr>
              <a:t>Prepared by EDGE Energy / MicroGRID Energy LLC  ·  Direct enquiries: Paul Christodoulou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761"/>
                </a:solidFill>
                <a:latin typeface="Georgia"/>
              </a:rPr>
              <a:t>A vintage-laddered Class A position sized to your $50M/yr tax appetite.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EDGE Energy is deploying $3.5B of distributed residential solar+storage across ERCOT Texas — 80,000 systems through 2030, fully contracted under 20-year PPAs and Leases. EDGE Energy is offering EastWest Bank the Class A position in a Partnership Flip structure compliant with the IRS Rev. Proc. 2007-65 safe harbor.
Unlike a one-shot §6418 credit purchase, the partnership flip captures three stacked tax benefits — the §48E ITC at face value, 5-year MACRS bonus depreciation, and 99% of operating loss allocations — all sized so each year's tax shield matches your $50M annual appetite.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3484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434840"/>
            <a:ext cx="2606040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$31.2M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59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Total Class A capital
over 5-year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443484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4434840"/>
            <a:ext cx="26060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46634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8.4%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394959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Target after-tax IRR
to bank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443484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79" y="4434840"/>
            <a:ext cx="2606040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6634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$297M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394959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Total value captured
by bank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399" y="443484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15399" y="4434840"/>
            <a:ext cx="26060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59" y="46634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9.5×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5394959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Tax benefits / cash
invested  ·  8.5× 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 ·  Tax Equity IC Memo  ·  Confidential — Prepared for EastWest Bank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3551970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STRUCTURAL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45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 dirty="0">
                <a:solidFill>
                  <a:srgbClr val="1E2761"/>
                </a:solidFill>
                <a:latin typeface="Georgia"/>
              </a:rPr>
              <a:t>At a $50M/yr appetite, the partnership flip captures ~$231M more value than §6418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02696"/>
            <a:ext cx="6418830" cy="6890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Non-bank credit buyers (Apple, Walmart, Meta) use §6418 — clean one-shot purchase at 86¢/$ (their 14¢ discount becomes the profit). Banks have a structural advantage via partnership: $31M cash vs ~$215M for equivalent §6418 absorption.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5440680" cy="3749039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5440680" cy="5029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3F"/>
                </a:solidFill>
                <a:latin typeface="Georgia"/>
              </a:rPr>
              <a:t>PARTNERSHIP FLIP   (recommended)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§48E ITC monetization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20040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100% face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MACRS bonus depreciation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61188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99% allocated to bank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Operating loss allocations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0233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99% pre-flip to 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484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Cash distributions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43484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99% pre-flip to 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Holding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84632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5+ yrs (Rev. Proc. 2007-65)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After-tax IRR (base case)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25780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8.4%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Net profit on $50M/yr appetite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566928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alibri"/>
              </a:rPr>
              <a:t>~$266M  (over 5-yr deployment)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423160"/>
            <a:ext cx="54406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2423160"/>
            <a:ext cx="5440680" cy="5029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51460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§6418 TRANSFER   (alternative)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0040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§48E ITC monetization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20040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86-90¢/$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1188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MACRS bonus depreciation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61188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None — stays with sponsor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6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Operating loss allocations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40233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3484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Cash distributions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43484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None — one-time 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84632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Holding period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84632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Walk-away after closing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25780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Effective return (14¢ discount)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525780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~14% pre-tax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66928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Net profit on $50M/yr appetite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566928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~$35M  (5-yr × $7M discount)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263640"/>
            <a:ext cx="11064240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6263640"/>
            <a:ext cx="110642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8D7A0"/>
                </a:solidFill>
                <a:latin typeface="Calibri"/>
              </a:rPr>
              <a:t>Δ Flip captures +$231M more net profit on ~$184M less cash deployed (Flip: $31.2M / §6418: ~$215M cash outlay)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EDGE financial model v60-40 · §6418 comparative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CAPITAL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761"/>
                </a:solidFill>
                <a:latin typeface="Georgia"/>
              </a:rPr>
              <a:t>EastWest Bank as Class A — 60% of project capex, 99% pre-flip allocation.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475488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Senior Project Debt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Boundless v2.6 · 5-yr · 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23317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onsolas"/>
              </a:rPr>
              <a:t>$13.0M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4754880" cy="60350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937"/>
                </a:solidFill>
                <a:latin typeface="Calibri"/>
              </a:rPr>
              <a:t>Sponsor Class B (EDGE)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1% pre-flip · 95% post-flip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1363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onsolas"/>
              </a:rPr>
              <a:t>$7.8M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21024"/>
            <a:ext cx="4754880" cy="2414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12464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Class A Tax Equity (Bank)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3250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99% pre-flip · 5% post-flip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6451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onsolas"/>
              </a:rPr>
              <a:t>$31.2M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80760"/>
            <a:ext cx="61264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722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EastWest's 1,000-home tranche capex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6172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onsolas"/>
              </a:rPr>
              <a:t>$52.0M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011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Georgia"/>
              </a:rPr>
              <a:t>Class A position summary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423160"/>
            <a:ext cx="461772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26060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Class A capital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6060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60% × $52M = $31.2M (5-yr commit)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971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Pre-flip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971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99% of all tax + cash 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3375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Post-flip allocation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33375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5% (Rev. Proc. 2007-65 §4.01 min)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7033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Target after-tax IRR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7033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8.4%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069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Hold period (minimum)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40690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5 years post-PIS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4348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Flip trigger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44348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Yield-based (after-tax IRR target)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8006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Sponsor purchase option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8006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At fair market value (§4.08)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1663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Recapture insurance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51663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Aon-issued, 4¢/$ premium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5321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Voting interest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5532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≤24.9% (BHCA compliance)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EDGE financial model v60-40 · Boundless v2.6 debt term sheet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3846085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SIZING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E2761"/>
                </a:solidFill>
                <a:latin typeface="Georgia"/>
              </a:rPr>
              <a:t>Vintage-laddered — each year's tax benefits = $50M (exactly your appetite).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Each year EastWest invests $6.24M in one vintage SPE (200 homes). That vintage generates exactly $50M of Year-1 tax benefits (Class A's 99% pre-flip allocation; gross per-home values on slide 7) — the precise amount your $50M annual tax appetite can absorb. Repeated across 5 vintages = $31.2M total commitment.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21945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219456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VINTAGE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</a:rP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7472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Homes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79" y="3474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Invest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79" y="3767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$6.24M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059936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ITC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79" y="40599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$37.7M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52544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Dep shield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79" y="43525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$12.5M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645152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alibri"/>
              </a:rPr>
              <a:t>Total Y1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79" y="46451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onsolas"/>
              </a:rPr>
              <a:t>$50.0M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62072" y="2606040"/>
            <a:ext cx="21945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62072" y="2606040"/>
            <a:ext cx="219456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62072" y="267004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VINTAGE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31089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</a:rPr>
              <a:t>Year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6664" y="347472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Homes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7912" y="3474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6664" y="3767328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Invest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67912" y="3767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$6.24M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6664" y="4059936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ITC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7912" y="40599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$37.7M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6664" y="4352544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Dep shield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7912" y="43525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$12.5M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26664" y="4645152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alibri"/>
              </a:rPr>
              <a:t>Total Y1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912" y="46451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onsolas"/>
              </a:rPr>
              <a:t>$50.0M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75503" y="2606040"/>
            <a:ext cx="21945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175503" y="2606040"/>
            <a:ext cx="219456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75503" y="267004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VINTAGE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5503" y="31089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</a:rPr>
              <a:t>Year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0095" y="347472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Homes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4" y="3474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0095" y="3767328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Invest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344" y="3767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$6.24M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0095" y="4059936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ITC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344" y="40599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$37.7M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0095" y="4352544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Dep shield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344" y="43525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$12.5M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0095" y="4645152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alibri"/>
              </a:rPr>
              <a:t>Total Y1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344" y="46451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onsolas"/>
              </a:rPr>
              <a:t>$50.0M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88936" y="2606040"/>
            <a:ext cx="21945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488936" y="2606040"/>
            <a:ext cx="219456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88936" y="267004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VINTAGE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88936" y="31089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</a:rPr>
              <a:t>Year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7" y="347472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Homes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94776" y="3474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200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53527" y="3767328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Invest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94776" y="3767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$6.24M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53527" y="4059936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ITC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94776" y="40599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$37.7M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7" y="4352544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Dep shield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94776" y="43525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$12.5M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53527" y="4645152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alibri"/>
              </a:rPr>
              <a:t>Total Y1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94776" y="46451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onsolas"/>
              </a:rPr>
              <a:t>$50.0M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02367" y="2606040"/>
            <a:ext cx="21945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802367" y="2606040"/>
            <a:ext cx="219456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802367" y="267004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VINTAGE 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02367" y="31089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</a:rPr>
              <a:t>Year 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6959" y="347472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Homes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08207" y="3474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200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59" y="3767328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Invest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08207" y="3767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$6.24M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6959" y="4059936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ITC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08207" y="40599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$37.7M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59" y="4352544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Dep shield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08207" y="43525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onsolas"/>
              </a:rPr>
              <a:t>$12.5M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66959" y="4645152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alibri"/>
              </a:rPr>
              <a:t>Total Y1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08207" y="46451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onsolas"/>
              </a:rPr>
              <a:t>$50.0M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5212080"/>
            <a:ext cx="11064240" cy="777240"/>
          </a:xfrm>
          <a:prstGeom prst="rect">
            <a:avLst/>
          </a:prstGeom>
          <a:solidFill>
            <a:srgbClr val="F5F5F0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48640" y="5212080"/>
            <a:ext cx="73152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77240" y="53035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5-YEAR PROGRAM TOTALS  ·  CLASS A 99% ALLOCATION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55778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3F"/>
                </a:solidFill>
                <a:latin typeface="Calibri"/>
              </a:rPr>
              <a:t>1,000 homes  ·  $31.2M Class A capital  ·  $188.3M ITC + $62.6M dep shield + $46.1M ops tail = $297M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0" y="537667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Total value captured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55961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 i="0">
                <a:solidFill>
                  <a:srgbClr val="0F766E"/>
                </a:solidFill>
                <a:latin typeface="Georgia"/>
              </a:rPr>
              <a:t>$297M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EDGE financial model v60-40 · §704(b) waterfall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CASH FLOW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761"/>
                </a:solidFill>
                <a:latin typeface="Georgia"/>
              </a:rPr>
              <a:t>EastWest's 8-year cash flow — $31.2M out, $297M in, $266M net.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1556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20239"/>
            <a:ext cx="7772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39"/>
            <a:ext cx="16002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39"/>
            <a:ext cx="20574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Inflow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20239"/>
            <a:ext cx="196596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Net 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920239"/>
            <a:ext cx="21488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Cumulative 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58568"/>
            <a:ext cx="11155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7772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Year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31720"/>
            <a:ext cx="16002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C2414D"/>
                </a:solidFill>
                <a:latin typeface="Consolas"/>
              </a:rPr>
              <a:t>($6.24M)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31720"/>
            <a:ext cx="20574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+$50.0M ITC+dep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331720"/>
            <a:ext cx="196596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0F766E"/>
                </a:solidFill>
                <a:latin typeface="Consolas"/>
              </a:rPr>
              <a:t>+$43.8M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31720"/>
            <a:ext cx="21488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+$43.8M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42615"/>
            <a:ext cx="11155680" cy="384048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715768"/>
            <a:ext cx="7772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Year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715768"/>
            <a:ext cx="16002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C2414D"/>
                </a:solidFill>
                <a:latin typeface="Consolas"/>
              </a:rPr>
              <a:t>($6.24M)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715768"/>
            <a:ext cx="20574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+$52.0M (V2 + V1 ops)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715768"/>
            <a:ext cx="196596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0F766E"/>
                </a:solidFill>
                <a:latin typeface="Consolas"/>
              </a:rPr>
              <a:t>+$45.8M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715768"/>
            <a:ext cx="21488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+$89.6M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026663"/>
            <a:ext cx="11155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099815"/>
            <a:ext cx="7772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Year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099815"/>
            <a:ext cx="16002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C2414D"/>
                </a:solidFill>
                <a:latin typeface="Consolas"/>
              </a:rPr>
              <a:t>($6.24M)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099815"/>
            <a:ext cx="20574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+$54.0M (V3 + ops)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099815"/>
            <a:ext cx="196596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0F766E"/>
                </a:solidFill>
                <a:latin typeface="Consolas"/>
              </a:rPr>
              <a:t>+$47.8M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099815"/>
            <a:ext cx="21488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+$137.4M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410711"/>
            <a:ext cx="11155680" cy="384048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3483863"/>
            <a:ext cx="7772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Year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483863"/>
            <a:ext cx="16002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C2414D"/>
                </a:solidFill>
                <a:latin typeface="Consolas"/>
              </a:rPr>
              <a:t>($6.24M)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483863"/>
            <a:ext cx="20574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+$56.0M (V4 + ops)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483863"/>
            <a:ext cx="196596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0F766E"/>
                </a:solidFill>
                <a:latin typeface="Consolas"/>
              </a:rPr>
              <a:t>+$49.8M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483863"/>
            <a:ext cx="21488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+$187.2M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794759"/>
            <a:ext cx="11155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3867911"/>
            <a:ext cx="7772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Year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3867911"/>
            <a:ext cx="16002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C2414D"/>
                </a:solidFill>
                <a:latin typeface="Consolas"/>
              </a:rPr>
              <a:t>($6.24M)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867911"/>
            <a:ext cx="20574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+$58.0M (V5 + ops)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867911"/>
            <a:ext cx="196596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0F766E"/>
                </a:solidFill>
                <a:latin typeface="Consolas"/>
              </a:rPr>
              <a:t>+$51.8M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867911"/>
            <a:ext cx="21488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+$239.0M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178808"/>
            <a:ext cx="11155680" cy="384048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" y="4251960"/>
            <a:ext cx="7772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Year 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4251960"/>
            <a:ext cx="16002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4251960"/>
            <a:ext cx="20574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+$11.0M tail 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251960"/>
            <a:ext cx="196596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0F766E"/>
                </a:solidFill>
                <a:latin typeface="Consolas"/>
              </a:rPr>
              <a:t>+$11.0M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4251960"/>
            <a:ext cx="21488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+$250.0M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562856"/>
            <a:ext cx="11155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4636008"/>
            <a:ext cx="7772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Year 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3040" y="4636008"/>
            <a:ext cx="16002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4636008"/>
            <a:ext cx="20574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+$9.0M V1 flip + tail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4636008"/>
            <a:ext cx="196596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0F766E"/>
                </a:solidFill>
                <a:latin typeface="Consolas"/>
              </a:rPr>
              <a:t>+$9.0M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4636008"/>
            <a:ext cx="21488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+$259.0M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946904"/>
            <a:ext cx="11155680" cy="384048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5800" y="5020056"/>
            <a:ext cx="7772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Year 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63040" y="5020056"/>
            <a:ext cx="16002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0" y="5020056"/>
            <a:ext cx="205740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onsolas"/>
              </a:rPr>
              <a:t>+$7.0M V2-V3 tail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5020056"/>
            <a:ext cx="196596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0F766E"/>
                </a:solidFill>
                <a:latin typeface="Consolas"/>
              </a:rPr>
              <a:t>+$7.0M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8320" y="5020056"/>
            <a:ext cx="2148840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+$266.0M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5330952"/>
            <a:ext cx="11155680" cy="429768"/>
          </a:xfrm>
          <a:prstGeom prst="rect">
            <a:avLst/>
          </a:prstGeom>
          <a:solidFill>
            <a:srgbClr val="0F1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85800" y="5422392"/>
            <a:ext cx="77724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TOTAL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63040" y="5422392"/>
            <a:ext cx="160020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($31.2M)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0" y="5422392"/>
            <a:ext cx="205740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$297M total inflows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5422392"/>
            <a:ext cx="196596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$266M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18320" y="5422392"/>
            <a:ext cx="214884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48640" y="5816600"/>
            <a:ext cx="5486400" cy="609600"/>
          </a:xfrm>
          <a:prstGeom prst="rect">
            <a:avLst/>
          </a:prstGeom>
          <a:solidFill>
            <a:srgbClr val="F5F5F0"/>
          </a:solidFill>
          <a:ln w="12700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48640" y="5816600"/>
            <a:ext cx="73152" cy="6096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77240" y="586740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After-tax IRR (base case)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21400"/>
            <a:ext cx="521208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766E"/>
                </a:solidFill>
                <a:latin typeface="Georgia"/>
              </a:rPr>
              <a:t>8.4%   ·   9.5× gross MOIC   ·   8.5× net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3640" y="5816600"/>
            <a:ext cx="5349240" cy="609600"/>
          </a:xfrm>
          <a:prstGeom prst="rect">
            <a:avLst/>
          </a:prstGeom>
          <a:solidFill>
            <a:srgbClr val="F5F5F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00800" y="586740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Sensitivity range: ITC at 38% (PWA fails) / 48% (base) / 58% (+ LMI adder)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6121400"/>
            <a:ext cx="521208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Georgia"/>
              </a:rPr>
              <a:t>5.2%  →  8.4%  →  9.1%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EDGE financial model v60-40 · Class A flip waterfall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2074769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761"/>
                </a:solidFill>
                <a:latin typeface="Georgia"/>
              </a:rPr>
              <a:t>A $3.5B distributed solar program with 20-year contracted cash flows.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Georgia"/>
              </a:rPr>
              <a:t>Program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4572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80,000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deployed across ERCOT Texas through 2030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52928"/>
            <a:ext cx="4572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5292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$3.5B program 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8152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delivered through 2030  ·  EastWest tranche: $52M (1.25%)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19856"/>
            <a:ext cx="4572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419856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20-year PPA + Lease contracts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48456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fully executed (delivered May 25, 2026)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4572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986784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48% blended ITC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15384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Base 30% + PWA 10pp + Domestic Content 5pp + Energy Community 3pp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53712"/>
            <a:ext cx="4572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553712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USPAP-MAI cost-seg appraisal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82312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CPA FMV report completed (interim §48E basis $396,127/unit); formal MAI appraisal (Lauren Hill) in progress — expected end Q2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4572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Boundless v2.6 senior debt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8% coupon, 5-yr term + warehouse takeout at M60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1828800"/>
            <a:ext cx="4617720" cy="4297680"/>
          </a:xfrm>
          <a:prstGeom prst="rect">
            <a:avLst/>
          </a:prstGeom>
          <a:solidFill>
            <a:srgbClr val="F5F5F0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040880" y="1828800"/>
            <a:ext cx="461772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201168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761"/>
                </a:solidFill>
                <a:latin typeface="Georgia"/>
              </a:rPr>
              <a:t>Per-home economics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5146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§48E qualified basis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51460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$396,127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84378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Blended ITC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843784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48%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17296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§48E ITC face per home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72968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$190,141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502151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§50(c)(3) basis reduction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502151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($95,070)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831335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MACRS depreciable basis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831335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$301,057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16052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§168(k) 100% bonus dep (Y1)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416052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$301,057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48970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Tax shield per home (Y1, 21%)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4489704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$63,222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80" y="4864608"/>
            <a:ext cx="416052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69480" y="4956048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Direct credit + tax shield captured Year 1 of each vintage.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CPA FMV report (completed) · USPAP-MAI appraisal (in progress) · EDGE financial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324784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ABOUT THE SPONSOR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E2761"/>
                </a:solidFill>
                <a:latin typeface="Georgia"/>
              </a:rPr>
              <a:t>EDGE Energy — TX-licensed distributed solar developer.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Georgia"/>
              </a:rPr>
              <a:t>Who 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45720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6355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EDGE Energy / MicroGRID Energy LLC develops, finances, and operates distributed residential solar+storage projects across ERCOT Texas.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35808"/>
            <a:ext cx="45720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035808"/>
            <a:ext cx="6355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Sponsor team includes Paul Christodoulou (CFO), Mark Bench (CEO), and Greg Kelsch (CIO) — combined 50+ years of renewable finance, project development, and operations.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85615"/>
            <a:ext cx="45720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785615"/>
            <a:ext cx="6355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Affiliated TX-licensed installer network (TriSMART Solar + others) executes deployment under TDLR §71 + electrical code §1305.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35424"/>
            <a:ext cx="45720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535424"/>
            <a:ext cx="6355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20-year contracts with homeowner counterparties under EDGE Solar Lease v1.4 and EDGE PPA v5.4 (delivered May 25, 2026; 41 + 44 pages respectively).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828800"/>
            <a:ext cx="4069080" cy="4114800"/>
          </a:xfrm>
          <a:prstGeom prst="rect">
            <a:avLst/>
          </a:prstGeom>
          <a:solidFill>
            <a:srgbClr val="F5F5F0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89520" y="1828800"/>
            <a:ext cx="406908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</a:rPr>
              <a:t>Diligence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3172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Ready for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432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Outside tax counsel opinion (pending) — supplemental via Akin Gump / DLA Piper if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1089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1089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USPAP-MAI cost-seg appraisal (Lauren Hill)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4747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4747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Recapture insurance term sheet (Aon)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840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404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PWA compliance plan + records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062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2062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Domestic Content workbook (Duracell US BoM)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5720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5720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Energy Community census tract attestation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937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9377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Delivered Lease v1.4 + PPA v5.4 contracts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3035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303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Financial model v60-39 (audit-converged)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EDGE Energy LLC corporate disclosures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CREDIT RATE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E2761"/>
                </a:solidFill>
                <a:latin typeface="Georgia"/>
              </a:rPr>
              <a:t>Blended ITC rate stacks to 48% through three adders.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4741817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55893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§48E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55893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+30pp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290457" y="2103120"/>
            <a:ext cx="1580605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81897" y="2194560"/>
            <a:ext cx="139772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PWA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81897" y="2560320"/>
            <a:ext cx="139772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F2937"/>
                </a:solidFill>
                <a:latin typeface="Georgia"/>
              </a:rPr>
              <a:t>+10pp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71062" y="2103120"/>
            <a:ext cx="790302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2502" y="2194560"/>
            <a:ext cx="607422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2502" y="2560320"/>
            <a:ext cx="607422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+5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1365" y="2103120"/>
            <a:ext cx="474181" cy="1280160"/>
          </a:xfrm>
          <a:prstGeom prst="rect">
            <a:avLst/>
          </a:prstGeom>
          <a:solidFill>
            <a:srgbClr val="C24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52805" y="2194560"/>
            <a:ext cx="291301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2805" y="2560320"/>
            <a:ext cx="291301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+3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5547" y="2103120"/>
            <a:ext cx="3477332" cy="1280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6987" y="2194560"/>
            <a:ext cx="32944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64748B"/>
                </a:solidFill>
                <a:latin typeface="Calibri"/>
              </a:rPr>
              <a:t>Headroom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6987" y="2560320"/>
            <a:ext cx="32944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64748B"/>
                </a:solidFill>
                <a:latin typeface="Georgia"/>
              </a:rPr>
              <a:t>+22pp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7586907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547872"/>
            <a:ext cx="75869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</a:rPr>
              <a:t>Blended ITC rate: 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5547" y="3547872"/>
            <a:ext cx="34773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Theoretical max: 70%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6052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160520"/>
            <a:ext cx="265176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343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§48E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663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+30pp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37759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Solar+battery zero-GHG qualified facility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416052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37560" y="4160520"/>
            <a:ext cx="2651760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4343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PWA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663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onsolas"/>
              </a:rPr>
              <a:t>+10pp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937759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Prevailing wage + apprenticeship (5-yr records retention; 5× penalty if non-compliant)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79" y="416052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26479" y="4160520"/>
            <a:ext cx="265176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4343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Domestic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663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+5pp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937759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Duracell US-made battery + AMP modules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15399" y="416052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15399" y="4160520"/>
            <a:ext cx="2651760" cy="73152"/>
          </a:xfrm>
          <a:prstGeom prst="rect">
            <a:avLst/>
          </a:prstGeom>
          <a:solidFill>
            <a:srgbClr val="C24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52559" y="4343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Energy Community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59" y="4663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414D"/>
                </a:solidFill>
                <a:latin typeface="Consolas"/>
              </a:rPr>
              <a:t>+3pp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59" y="4937759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TX brownfield + coal-county census tracts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Per-home ITC face: $396,127 × 48% = $190,141   ·   Program-wide ITC face: $190,141 × 80,000 = $15.2B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IRC §48E adder framework · EDGE compliance workbook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269038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§704(B) ALLOCATION WATERFALL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39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761"/>
                </a:solidFill>
                <a:latin typeface="Georgia"/>
              </a:rPr>
              <a:t>Pre-flip 99/1 → Post-flip 5/95, per Rev. Proc. 2007-65 safe harbor.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PRE-FLIP   (Years 1-5)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Georgia"/>
              </a:rPr>
              <a:t>Bank captures tax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POST-FLIP   (Years 6+)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Georgia"/>
              </a:rPr>
              <a:t>Sponsor takes 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45720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1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Tax / Cash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788920"/>
            <a:ext cx="315468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2907791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Pre-Flip Allocation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2788920"/>
            <a:ext cx="36576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907791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Post-Flip Allocation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39"/>
            <a:ext cx="1138428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410711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§48E ITC (Year 1 of each vintage)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410711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99% Bank  /  1% Sponsor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10711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onsolas"/>
              </a:rPr>
              <a:t>N/A — one-time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59"/>
            <a:ext cx="11384280" cy="502920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913631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§168(k) bonus depreciation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913631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99% Bank  /  1% Sponsor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913631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onsolas"/>
              </a:rPr>
              <a:t>5% Bank · 95% Sponsor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79"/>
            <a:ext cx="1138428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416551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§163(j) interest deduction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416551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99% Bank  /  1% Sponsor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416551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onsolas"/>
              </a:rPr>
              <a:t>5% Bank · 95% Sponsor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00600"/>
            <a:ext cx="11384280" cy="502920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91947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Operating revenue (PPA + VPP + REC)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919472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99% Bank  /  1% Sponsor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91947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onsolas"/>
              </a:rPr>
              <a:t>5% Bank · 95% Sponsor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03520"/>
            <a:ext cx="1138428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42239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Sponsor management fee deduction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5422392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99% Bank  /  1% Sponsor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42239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onsolas"/>
              </a:rPr>
              <a:t>5% Bank · 95% Sponsor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806440"/>
            <a:ext cx="11384280" cy="502920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592531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Cash distributions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5925312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766E"/>
                </a:solidFill>
                <a:latin typeface="Consolas"/>
              </a:rPr>
              <a:t>99% Bank  /  1% Sponsor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92531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onsolas"/>
              </a:rPr>
              <a:t>5% Bank · 95% Sponsor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070600"/>
            <a:ext cx="1106424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E2761"/>
                </a:solidFill>
                <a:latin typeface="Calibri"/>
              </a:rPr>
              <a:t>Yield-based flip triggers when Class A reaches 8% after-tax IRR (M60 = month 60 minimum per Rev. Proc. 2007-65 §4.06).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Rev. Proc. 2007-65 · draft JV LLC Operating Agreement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401714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SAFE HARBOR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761"/>
                </a:solidFill>
                <a:latin typeface="Georgia"/>
              </a:rPr>
              <a:t>Eight-point Rev. Proc. 2007-65 compliance — structured for safe-harbor treatment.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Compliance with each of the eight safe-harbor conditions supports IRS respect of the 99/1 → 5/95 split.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269748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048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Georgia"/>
              </a:rPr>
              <a:t>§4.01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95727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Minimum Class A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99% pre-flip / 5% post-flip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233172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64992" y="2331720"/>
            <a:ext cx="269748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24048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Georgia"/>
              </a:rPr>
              <a:t>§4.02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2395727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88036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Minimum Class A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4747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60% of project capital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233172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1344" y="2331720"/>
            <a:ext cx="269748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8504" y="24048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Georgia"/>
              </a:rPr>
              <a:t>§4.03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395727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88036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No sponsor guarantee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4747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Confirmed in op agreement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233172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97696" y="2331720"/>
            <a:ext cx="269748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4856" y="24048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Georgia"/>
              </a:rPr>
              <a:t>§4.04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83696" y="2395727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288036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Single project 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34747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1 SPE per vintage (5 SPEs in EastWest's tranche)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79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4297679"/>
            <a:ext cx="269748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4370831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Georgia"/>
              </a:rPr>
              <a:t>§4.05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36168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846319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Cash follows tax allocations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440679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99/1 → 5/95 both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64992" y="4297679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64992" y="4297679"/>
            <a:ext cx="269748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02152" y="4370831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Georgia"/>
              </a:rPr>
              <a:t>§4.06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0992" y="436168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2152" y="4846319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Minimum 5-year 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2152" y="5440679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M60 (60 mo.) min., M72 (72 mo.) floor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344" y="4297679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81344" y="4297679"/>
            <a:ext cx="269748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18504" y="4370831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Georgia"/>
              </a:rPr>
              <a:t>§4.07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7344" y="436168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4846319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No mandatory put on sponsor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4" y="5440679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Confirmed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97696" y="4297679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997696" y="4297679"/>
            <a:ext cx="269748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34856" y="4370831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Georgia"/>
              </a:rPr>
              <a:t>§4.08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83696" y="436168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766E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34856" y="4846319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Purchase option at FMV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4856" y="5440679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FMV-based at exercise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Rev. Proc. 2007-65 §§4.01-4.08 · draft JV LLC Operating Agreement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3224118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REQUIRED TAX ELECTIONS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E2761"/>
                </a:solidFill>
                <a:latin typeface="Georgia"/>
              </a:rPr>
              <a:t>Nine elections at JV's first Form 1065 filing.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Elections govern how tax items flow to Class A. Made at first Form 1065 filing per IRS rules; locked thereafter.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1064240" cy="40233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5544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Citation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377440"/>
            <a:ext cx="2834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377440"/>
            <a:ext cx="10972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377440"/>
            <a:ext cx="44805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88336"/>
            <a:ext cx="11064240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798064"/>
            <a:ext cx="15544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onsolas"/>
              </a:rPr>
              <a:t>§704(b) QIO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798064"/>
            <a:ext cx="2834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Qualified Income Offset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798064"/>
            <a:ext cx="10972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alibri"/>
              </a:rPr>
              <a:t>✓ MADE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798064"/>
            <a:ext cx="44805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Satisfies SEE third prong (substantial economic effect test)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0672"/>
            <a:ext cx="11064240" cy="402336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200400"/>
            <a:ext cx="15544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onsolas"/>
              </a:rPr>
              <a:t>§704(c)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200400"/>
            <a:ext cx="2834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Remedial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200400"/>
            <a:ext cx="10972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alibri"/>
              </a:rPr>
              <a:t>✓ MADE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200400"/>
            <a:ext cx="44805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Class A captures full book-equivalent depreciation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93008"/>
            <a:ext cx="11064240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602736"/>
            <a:ext cx="15544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onsolas"/>
              </a:rPr>
              <a:t>§168(k)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602736"/>
            <a:ext cx="2834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100% bonus depreciation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602736"/>
            <a:ext cx="10972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alibri"/>
              </a:rPr>
              <a:t>✓ MADE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602736"/>
            <a:ext cx="44805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Front-loads MACRS into pre-flip Year 1 (no opt-out)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95344"/>
            <a:ext cx="11064240" cy="402336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005072"/>
            <a:ext cx="15544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onsolas"/>
              </a:rPr>
              <a:t>§50(c)(3)(A)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005072"/>
            <a:ext cx="2834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ITC basis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005072"/>
            <a:ext cx="10972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MANDATORY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005072"/>
            <a:ext cx="44805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Depreciable basis reduced by 50% of credit claimed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97680"/>
            <a:ext cx="11064240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4407408"/>
            <a:ext cx="15544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onsolas"/>
              </a:rPr>
              <a:t>§263A(f)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4407408"/>
            <a:ext cx="2834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Capitalized interest into basis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4407408"/>
            <a:ext cx="10972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alibri"/>
              </a:rPr>
              <a:t>✓ MADE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407408"/>
            <a:ext cx="44805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$7,608/unit basis lift (cap'd construction-period interest)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00016"/>
            <a:ext cx="11064240" cy="402336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4809744"/>
            <a:ext cx="15544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onsolas"/>
              </a:rPr>
              <a:t>§168(i)(4)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809744"/>
            <a:ext cx="2834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General Asset Account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4809744"/>
            <a:ext cx="10972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alibri"/>
              </a:rPr>
              <a:t>✓ MADE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809744"/>
            <a:ext cx="44805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Simplifies partial disposition rules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02352"/>
            <a:ext cx="11064240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" y="5212080"/>
            <a:ext cx="15544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onsolas"/>
              </a:rPr>
              <a:t>§163(j)(7)(A)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5212080"/>
            <a:ext cx="2834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Real property trade/business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60" y="5212080"/>
            <a:ext cx="10972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NOT ELECTED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5212080"/>
            <a:ext cx="44805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Preserves full interest deduction at JV level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504688"/>
            <a:ext cx="11064240" cy="402336"/>
          </a:xfrm>
          <a:prstGeom prst="rect">
            <a:avLst/>
          </a:prstGeom>
          <a:solidFill>
            <a:srgbClr val="F5F5F0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614416"/>
            <a:ext cx="15544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onsolas"/>
              </a:rPr>
              <a:t>§6418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5614416"/>
            <a:ext cx="2834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Transferability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5614416"/>
            <a:ext cx="10972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NOT ELECTED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5614416"/>
            <a:ext cx="44805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Credit stays at partnership for §704(b) allocation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907024"/>
            <a:ext cx="11064240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" y="6016752"/>
            <a:ext cx="15544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onsolas"/>
              </a:rPr>
              <a:t>§754 + §743(b)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14600" y="6016752"/>
            <a:ext cx="2834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Basis adjustment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6016752"/>
            <a:ext cx="10972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766E"/>
                </a:solidFill>
                <a:latin typeface="Calibri"/>
              </a:rPr>
              <a:t>✓ MADE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60" y="6016752"/>
            <a:ext cx="44805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Basis step-up on Class A buy-in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Outside tax counsel opinion (pending) · IRC §704 regulations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RISK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761"/>
                </a:solidFill>
                <a:latin typeface="Georgia"/>
              </a:rPr>
              <a:t>Five-layer protection stack — insurance, indemnity, opinion, 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064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73152" cy="76809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38527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§48E ITC recapture (5-yr period)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Aon-issued recapture insurance policy, A-rated (AM Best) carrier, 4¢/$ premium (~$7.5M on $188M gross ITC face (99% allocated to Class A) across 5 vintages). First-loss before sponsor indemnity. Covers all §50(a) and §6418(g)(3) recapture events.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039112"/>
            <a:ext cx="169164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0" y="203911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INSURED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15768"/>
            <a:ext cx="11064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715768"/>
            <a:ext cx="73152" cy="76809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779775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PWA compliance failure (5× penalty)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35808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Sponsor PWA covenant + uncapped indemnity for breach. Prevailing wage records retained 5 years. Apprenticeship documentation per §45(b)(7). Verified through third-party labor audit.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880360"/>
            <a:ext cx="169164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0" y="28803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INDEMNIFIED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57015"/>
            <a:ext cx="11064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557015"/>
            <a:ext cx="73152" cy="76809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21023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FEOC compliance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77055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Sponsor warrants no Foreign Entity of Concern at placed-in-service. Engine FEOC gate at PIS zeros the credit if non-compliant per §45X(c)(7). Sponsor indemnifies for any breach.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721607"/>
            <a:ext cx="169164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0" y="3721607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WARRANTED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98264"/>
            <a:ext cx="11064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398264"/>
            <a:ext cx="73152" cy="76809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46227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§704(b) SEE reallocation by IRS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18304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Outside tax counsel opinion pending on §704(b) Qualified Income Offset + Rev. Proc. 2007-65 safe-harbor compliance. Opinion to be finalized upon structure agreement with EastWest Bank; supplemental opinion available from Akin Gump or DLA Piper if required. Sponsor 5-7 yr tax indemnity tail.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4562856"/>
            <a:ext cx="169164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4080" y="4562856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OPINED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239512"/>
            <a:ext cx="11064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239512"/>
            <a:ext cx="73152" cy="76809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30352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Sponsor operational 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559552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Class A step-in rights on covenant defaults. Class A consent rights on material amendments, asset sales, additional debt. Sponsor 5-yr tax indemnity tail.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5404104"/>
            <a:ext cx="169164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84080" y="5404104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STRUCTURED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IC Memo  ·  Confidential  ·  Source: Aon recapture insurance term sheet · Outside tax counsel opinion (pending)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276074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TIMELINE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247120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761"/>
                </a:solidFill>
                <a:latin typeface="Georgia"/>
              </a:rPr>
              <a:t>Six-month path from term sheet to first vintage placed in service.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2743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63040" y="2697480"/>
            <a:ext cx="91440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25880" y="2468879"/>
            <a:ext cx="457200" cy="4572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48716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961"/>
                </a:solidFill>
                <a:latin typeface="Georg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26060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291839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Diligence kickoff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2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Tax opinion + USPAP appraisal + insurance quote 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2468879"/>
            <a:ext cx="457200" cy="4572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248716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961"/>
                </a:solidFill>
                <a:latin typeface="Georgia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15468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3154680"/>
            <a:ext cx="26060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3291839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Term sheet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118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Early Q3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93192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Class A capital commitment + flip terms + indemnity tail</a:t>
            </a:r>
          </a:p>
        </p:txBody>
      </p:sp>
      <p:sp>
        <p:nvSpPr>
          <p:cNvPr id="20" name="Oval 19"/>
          <p:cNvSpPr/>
          <p:nvPr/>
        </p:nvSpPr>
        <p:spPr>
          <a:xfrm>
            <a:off x="6903720" y="2468879"/>
            <a:ext cx="457200" cy="4572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248716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961"/>
                </a:solidFill>
                <a:latin typeface="Georgia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15468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3154680"/>
            <a:ext cx="26060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291839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Definitive agreements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6118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Q4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93192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LLC OpAg + ECCA + Side Letter + insurance binder</a:t>
            </a:r>
          </a:p>
        </p:txBody>
      </p:sp>
      <p:sp>
        <p:nvSpPr>
          <p:cNvPr id="27" name="Oval 26"/>
          <p:cNvSpPr/>
          <p:nvPr/>
        </p:nvSpPr>
        <p:spPr>
          <a:xfrm>
            <a:off x="9692640" y="2468879"/>
            <a:ext cx="457200" cy="4572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248716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961"/>
                </a:solidFill>
                <a:latin typeface="Georgia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315468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15400" y="3154680"/>
            <a:ext cx="26060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0" y="3291839"/>
            <a:ext cx="2331720" cy="211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Vintage 1 placed in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6118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Q4 2026 / Q1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93192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Vintage 1: 200 homes — first $6.24M tranche deployed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440680"/>
            <a:ext cx="11064240" cy="1005840"/>
          </a:xfrm>
          <a:prstGeom prst="rect">
            <a:avLst/>
          </a:prstGeom>
          <a:solidFill>
            <a:srgbClr val="F5F5F0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5440680"/>
            <a:ext cx="7315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55321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</a:rPr>
              <a:t>What we need from EastWest Bank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8521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(1) Initial diligence investment decision within 2 weeks    (2) Confirm structure preference (vintage-laddered vs lump-sum)    (3) Tax counsel introduction for outside opinion coordination    (4) Insurance carrier preference (Aon / Marsh / WTW)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EDGE Energy  ·  Tax Equity IC Memo  ·  Confidential — Prepared for EastWest Bank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713024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RECOMMENDED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FFFFFF"/>
                </a:solidFill>
                <a:latin typeface="Georgia"/>
              </a:rPr>
              <a:t>Commit $31.2M to Class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E8D7A0"/>
                </a:solidFill>
                <a:latin typeface="Georgia"/>
              </a:rPr>
              <a:t>Capture 8.4% after-tax IRR.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228600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45720" cy="4114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931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$297M of total value captured over 8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062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D7A0"/>
                </a:solidFill>
                <a:latin typeface="Calibri"/>
              </a:rPr>
              <a:t>vs. $31.2M cash invested + operating shields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0"/>
            <a:ext cx="45720" cy="4114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5262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Vintage-laddered to match $50M/yr appetite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8006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D7A0"/>
                </a:solidFill>
                <a:latin typeface="Calibri"/>
              </a:rPr>
              <a:t>exactly — no carry-forward erosion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166360"/>
            <a:ext cx="45720" cy="4114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51206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Rev. Proc. 2007-65 safe harbor compliant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394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D7A0"/>
                </a:solidFill>
                <a:latin typeface="Calibri"/>
              </a:rPr>
              <a:t>Structured to satisfy each of the eight safe-harbor conditions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Direct enquiries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9963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Paul Christodoulou  ·  CFO, EDGE Energy  ·  paul@energydevelopmentgroup.com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688D87-11C2-4241-AC19-2CC7F9F1018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8dbe444-3318-4e53-bd0d-4b49fb3180c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2591</Words>
  <Application>Microsoft Macintosh PowerPoint</Application>
  <PresentationFormat>Widescreen</PresentationFormat>
  <Paragraphs>485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christodoulou</cp:lastModifiedBy>
  <cp:revision>3</cp:revision>
  <dcterms:created xsi:type="dcterms:W3CDTF">2013-01-27T09:14:16Z</dcterms:created>
  <dcterms:modified xsi:type="dcterms:W3CDTF">2026-05-27T04:25:34Z</dcterms:modified>
  <cp:category/>
</cp:coreProperties>
</file>