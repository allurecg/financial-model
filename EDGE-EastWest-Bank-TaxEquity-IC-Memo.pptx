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9" r:id="rId5"/>
    <p:sldId id="273" r:id="rId6"/>
    <p:sldId id="261" r:id="rId7"/>
    <p:sldId id="274" r:id="rId8"/>
    <p:sldId id="272" r:id="rId4"/>
    <p:sldId id="268" r:id="rId14"/>
    <p:sldId id="282" r:id="rId10"/>
    <p:sldId id="275" r:id="rId9"/>
    <p:sldId id="276" r:id="rId11"/>
    <p:sldId id="267" r:id="rId13"/>
    <p:sldId id="277" r:id="rId12"/>
    <p:sldId id="280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7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slide" Target="slides/slide8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CONFIDENTIAL  ·  PREPARED MAY 26,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Georgia"/>
              </a:rPr>
              <a:t>Solar Tax Equity Investment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EDGE Energy  ×  EastWest Bank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Sized to $50M Annual Tax Appetite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$31.2M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commitment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After-tax IRR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$297M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Total value captured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6634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C9A961"/>
                </a:solidFill>
                <a:latin typeface="Georgia"/>
              </a:rPr>
              <a:t>9.5×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3492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2E8F0"/>
                </a:solidFill>
                <a:latin typeface="Calibri"/>
              </a:rPr>
              <a:t>Tax-benefit MOIC  ·  8.5×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E2E8F0"/>
                </a:solidFill>
                <a:latin typeface="Calibri"/>
              </a:rPr>
              <a:t>Prepared by EDGE Energy / MicroGRID Energy LLC  ·  Direct enquiries: Paul Christodoulou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vintage-laddered Class A position sized to your $50M/yr tax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EDGE Energy is deploying $3.5B of distributed residential solar+storage across ERCOT Texas — 80,000 systems through 2030, fully contracted under 20-year PPAs and Leases. EDGE Energy is offering EastWest Bank the Class A position in a Partnership Flip structure compliant with the IRS Rev. Proc. 2007-65 safe harbor.
Unlike a one-shot §6418 credit purchase, the partnership flip captures three stacked tax benefits — the §48E ITC at face value, 100% bonus depreciation under §168(k) on 5-year MACRS property, and 99% of operating loss allocations — all sized so each year's tax shield matches your $50M annual appetite.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$31.2M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Class A capital
over 5-year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8.4%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
to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79" y="4434840"/>
            <a:ext cx="260604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$297M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
by bank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399" y="4434840"/>
            <a:ext cx="260604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59" y="466344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9.5×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394959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benefits / cash
invested  ·  8.5× 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2 / 15</a:t>
            </a:r>
          </a:p>
        </p:txBody>
      </p:sp>
    </p:spTree>
    <p:extLst>
      <p:ext uri="{BB962C8B-B14F-4D97-AF65-F5344CB8AC3E}">
        <p14:creationId xmlns:p14="http://schemas.microsoft.com/office/powerpoint/2010/main" val="3551970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STRUCTURAL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454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 dirty="0">
                <a:solidFill>
                  <a:srgbClr val="1E2761"/>
                </a:solidFill>
                <a:latin typeface="Georgia"/>
              </a:rPr>
              <a:t>Flip captures ~$231M more value than §6418 at $50M/yr appetite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02696"/>
            <a:ext cx="6418830" cy="689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Non-bank credit buyers (Apple, Walmart, Meta) use §6418 — clean one-shot purchase at 86¢/$ (their 14¢ discount becomes the profit). Banks have a structural advantage via partnership: $31M cash vs ~$215M for equivalent §6418 absorption.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5440680" cy="3749039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54406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73F"/>
                </a:solidFill>
                <a:latin typeface="Georgia"/>
              </a:rPr>
              <a:t>PARTNERSHIP FLIP   (recommended)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100% face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allocated to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99% pre-flip to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5+ yrs (Rev. Proc. 2007-65)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alibri"/>
              </a:rPr>
              <a:t>~$266M  (over 5-yr deployment)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423160"/>
            <a:ext cx="544068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44068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2514600"/>
            <a:ext cx="5440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§6418 TRANSFER   (alternative)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§48E ITC monetization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2004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86–90¢ per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118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MACRS bonus depreciation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36118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stays with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Operating loss allocations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402336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3484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43484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None — one-time payment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84632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Holding period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484632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No continuing involvement post-purchase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5780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Effective return (14¢ discount)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5257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~14% pre-tax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669280"/>
            <a:ext cx="2971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Net profit on $50M/yr appetite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566928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~$35M  (5-yr × $7M discount)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8D7A0"/>
                </a:solidFill>
                <a:latin typeface="Calibri"/>
              </a:rPr>
              <a:t>Δ Flip captures +$231M more net profit on ~$184M less cash deployed (Flip: $31.2M / §6418: ~$215M cash outlay)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§6418 comparative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CAPITAL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 Bank as Class A — 60% of project capex, 99% pre-flip allocation.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4754880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Senior Project Debt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Boundless v2.6 · 5-yr · 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3317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$13.0M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4754880" cy="60350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Sponsor Class B (EDGE)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1% pre-flip · 95% post-flip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13639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$7.8M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21024"/>
            <a:ext cx="4754880" cy="2414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Class A Tax Equity (Bank)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2504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99% pre-flip · 5% post-flip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64515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$31.2M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80760"/>
            <a:ext cx="61264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EastWest's 1,000-home tranche capex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61722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Consolas"/>
              </a:rPr>
              <a:t>$52.0M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11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Class A position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423160"/>
            <a:ext cx="461772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Class A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6060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60% × $52M = $31.2M (5-yr commit)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718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Pre-flip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718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99% of all tax + cash 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375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Post-flip allocation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3375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5% (Rev. Proc. 2007-65 §4.01 min)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7033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Target after-tax IRR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7033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8.4%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69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Hold period (minimum)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4069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5 years post-PIS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34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Flip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44348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Yield-based (after-tax IRR target)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0060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Sponsor purchase 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At fair market value (§4.08)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1663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Recapture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516636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Aon-issued, 4¢/$ premium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Voting interest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69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≤24.9% (BHCA compliance)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Boundless v2.6 debt term 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4 / 15</a:t>
            </a:r>
          </a:p>
        </p:txBody>
      </p:sp>
    </p:spTree>
    <p:extLst>
      <p:ext uri="{BB962C8B-B14F-4D97-AF65-F5344CB8AC3E}">
        <p14:creationId xmlns:p14="http://schemas.microsoft.com/office/powerpoint/2010/main" val="384608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SIZING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Vintage-laddered to match $50M annual appetite.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Each year EastWest invests $6.24M in one vintage SPE (200 homes). That vintage generates ≈$50M of Year-1 tax benefits (Class A's 99% pre-flip allocation; gross per-home values on slide 7) — the precise amount your $50M annual tax appetite can absorb. Repeated across 5 vintages = $31.2M total commitment.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79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79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79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79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79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62072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862072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62072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4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2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912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6664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6664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75503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175503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75503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5503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095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0095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1344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5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0095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0095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88936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488936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88936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936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53527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94776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53527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94776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53527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3527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4776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53527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4776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02367" y="2606040"/>
            <a:ext cx="219456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802367" y="2606040"/>
            <a:ext cx="219456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02367" y="2670048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VINTAGE 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02367" y="31089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Year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9" y="3474720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Homes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08207" y="3474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59" y="3767328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Invest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7" y="37673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$6.24M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59" y="405993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ITC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8207" y="40599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$37.7M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59" y="4352544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Dep shield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7" y="43525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onsolas"/>
              </a:rPr>
              <a:t>$12.5M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66959" y="4645152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alibri"/>
              </a:rPr>
              <a:t>Total Y1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08207" y="46451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onsolas"/>
              </a:rPr>
              <a:t>≈$50M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212080"/>
            <a:ext cx="11064240" cy="7772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48640" y="5212080"/>
            <a:ext cx="73152" cy="7772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7240" y="530352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5-YEAR PROGRAM TOTALS  ·  CLASS A 99% ALLOCATION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55778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73F"/>
                </a:solidFill>
                <a:latin typeface="Calibri"/>
              </a:rPr>
              <a:t>1,000 homes  ·  $31.2M Class A capital  ·  $188.5M ITC + $62.5M dep shield + $46.0M ops tail = $297M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37667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Total value captured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5961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0F766E"/>
                </a:solidFill>
                <a:latin typeface="Georgia"/>
              </a:rPr>
              <a:t>$297M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§704(b)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CASH FLOW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EastWest's 8-year cash flow — $31.2M out, $297M in, $266M net.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155680" cy="3840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20239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20239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39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20239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Net Annual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920239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Cumulative 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58568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3172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3172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+$50.0M ITC+dep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3172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+$43.8M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5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71576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71576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+$52.0M (V2 + V1 ops)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71576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+$45.8M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1576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+$89.6M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26663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099815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099815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099815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+$54.0M (V3 + ops)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099815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+$47.8M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99815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+$137.4M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410711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483863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483863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3483863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+$56.0M (V4 + ops)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83863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+$49.8M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3483863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+$187.2M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94759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867911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867911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C2414D"/>
                </a:solidFill>
                <a:latin typeface="Consolas"/>
              </a:rPr>
              <a:t>($6.24M)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867911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+$58.0M (V5 + ops)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867911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+$51.8M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3867911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+$239.0M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178808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251960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251960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251960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+$11.0M tail 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251960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+$11.0M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251960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+$250.0M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562856"/>
            <a:ext cx="11155680" cy="384048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4636008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4636008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4636008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+$9.0M V1 flip + tail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4636008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+$9.0M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4636008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+$259.0M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946904"/>
            <a:ext cx="11155680" cy="384048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5020056"/>
            <a:ext cx="7772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Year 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63040" y="5020056"/>
            <a:ext cx="16002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0" y="5020056"/>
            <a:ext cx="205740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1F2937"/>
                </a:solidFill>
                <a:latin typeface="Consolas"/>
              </a:rPr>
              <a:t>+$7.0M V2-V3 tail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5020056"/>
            <a:ext cx="196596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0F766E"/>
                </a:solidFill>
                <a:latin typeface="Consolas"/>
              </a:rPr>
              <a:t>+$7.0M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5020056"/>
            <a:ext cx="2148840" cy="2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+$266.0M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5330952"/>
            <a:ext cx="11155680" cy="429768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5800" y="5422392"/>
            <a:ext cx="7772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63040" y="5422392"/>
            <a:ext cx="16002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($31.2M)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422392"/>
            <a:ext cx="205740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$297M total inflows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5200" y="5422392"/>
            <a:ext cx="196596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$266M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18320" y="5422392"/>
            <a:ext cx="2148840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48640" y="5816600"/>
            <a:ext cx="5486400" cy="609600"/>
          </a:xfrm>
          <a:prstGeom prst="rect">
            <a:avLst/>
          </a:prstGeom>
          <a:solidFill>
            <a:srgbClr val="F5F5F0"/>
          </a:solidFill>
          <a:ln w="127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48640" y="5816600"/>
            <a:ext cx="73152" cy="6096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724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After-tax IRR (base case)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Georgia"/>
              </a:rPr>
              <a:t>8.4%   ·   9.5× gross MOIC   ·   8.5× net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16600"/>
            <a:ext cx="5349240" cy="609600"/>
          </a:xfrm>
          <a:prstGeom prst="rect">
            <a:avLst/>
          </a:prstGeom>
          <a:solidFill>
            <a:srgbClr val="F5F5F0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400800" y="586740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Sensitivity range: ITC at 38% (PWA fails) / 48% (base) / 58% (+ LMI adder)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6121400"/>
            <a:ext cx="52120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5.2%  →  8.4%  →  9.1%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financial model v6.0 · Class A flip waterfall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6 / 15</a:t>
            </a:r>
          </a:p>
        </p:txBody>
      </p:sp>
    </p:spTree>
    <p:extLst>
      <p:ext uri="{BB962C8B-B14F-4D97-AF65-F5344CB8AC3E}">
        <p14:creationId xmlns:p14="http://schemas.microsoft.com/office/powerpoint/2010/main" val="2074769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A $3.5B distributed solar program with 20-year contracted cash flows.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Program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80,000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deployed across ERCOT Texas through 2030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52928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$3.5B program 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81528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delivered through 2030  ·  EastWest tranche: $52M (1.5% of program capex)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19856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20-year PPA + Lease contracts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48456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fully executed (delivered May 25, 2026)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48% blended ITC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15384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Base 30% + PWA 10pp + Domestic Content 5pp + Energy Community 3pp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53712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5537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USPAP-MAI cost-seg appraisal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82312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CPA FMV report completed (interim §48E basis $396,127/unit); formal MAI appraisal (Lauren Hill) in progress — expected end Q2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4572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Boundless v2.6 senior debt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8% coupon, 5-yr term + warehouse takeout at M60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828800"/>
            <a:ext cx="4617720" cy="429768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1828800"/>
            <a:ext cx="461772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011680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761"/>
                </a:solidFill>
                <a:latin typeface="Georgia"/>
              </a:rPr>
              <a:t>Per-home economics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5146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qualified basis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1460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$396,127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8437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Blended ITC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4378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48%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§48E ITC face per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17296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$190,141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502151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§50(c)(3) basis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502151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($95,070)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831335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MACRS depreciable basis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831335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1605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§168(k) 100% bonus dep (Y1)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41605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$301,057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8970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Tax shield per home (Y1, 21%)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4489704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$63,222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9480" y="4864608"/>
            <a:ext cx="416052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69480" y="4956048"/>
            <a:ext cx="4251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Direct credit + tax shield captured Year 1 of each vintage.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CPA FMV report (completed) · USPAP-MAI appraisal (in progress) · EDGE financial 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7 / 15</a:t>
            </a:r>
          </a:p>
        </p:txBody>
      </p:sp>
    </p:spTree>
    <p:extLst>
      <p:ext uri="{BB962C8B-B14F-4D97-AF65-F5344CB8AC3E}">
        <p14:creationId xmlns:p14="http://schemas.microsoft.com/office/powerpoint/2010/main" val="324784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ABOUT THE SPONSOR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EDGE Energy — TX-licensed distributed solar developer.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761"/>
                </a:solidFill>
                <a:latin typeface="Georgia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EDGE Energy / MicroGRID Energy LLC develops, finances, and operates distributed residential solar+storage projects across ERCOT Texas.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35808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35808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Sponsor principals: Paul Christodoulou (CFO), Mark Bench (CEO), Greg Kelsch (CIO).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85615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85615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Affiliated TX-licensed installer network (TriSMART Solar + others) executes deployment under TDLR §71 + electrical code §1305.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5424"/>
            <a:ext cx="4572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535424"/>
            <a:ext cx="6355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20-year contracts with homeowner counterparties under EDGE Solar Lease v1.4 and EDGE PPA v5.4 (delivered May 25, 2026; 41 + 44 pages respectively).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828800"/>
            <a:ext cx="4069080" cy="411480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89520" y="1828800"/>
            <a:ext cx="406908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20116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Diligence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Ready for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432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(pending) — supplemental via Akin Gump / DLA Piper if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08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1089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USPAP-MAI cost-seg appraisal (Lauren Hill)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74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4747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Recapture insurance term sheet (Aon)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84048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8404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PWA compliance plan + records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062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Domestic Content workbook (Duracell US BoM)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572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Energy Community census tract attestation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377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9377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Delivered Lease v1.4 + PPA v5.4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303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303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Financial model v6.0 (audit-converged)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EDGE Energy LLC corporate disclosures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CREDIT RATE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Blended ITC rate stacks to 48% through three adders.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4741817" cy="12801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5893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§48E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55893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+30pp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0457" y="2103120"/>
            <a:ext cx="1580605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81897" y="2194560"/>
            <a:ext cx="139772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1897" y="2560320"/>
            <a:ext cx="139772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937"/>
                </a:solidFill>
                <a:latin typeface="Georgia"/>
              </a:rPr>
              <a:t>+10pp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1062" y="2103120"/>
            <a:ext cx="790302" cy="12801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62502" y="2194560"/>
            <a:ext cx="607422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502" y="2560320"/>
            <a:ext cx="607422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61365" y="2103120"/>
            <a:ext cx="474181" cy="1280160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52805" y="2194560"/>
            <a:ext cx="291301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2805" y="2560320"/>
            <a:ext cx="291301" cy="227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</a:rPr>
              <a:t>+3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5547" y="2103120"/>
            <a:ext cx="3477332" cy="1280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6987" y="2194560"/>
            <a:ext cx="32944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64748B"/>
                </a:solidFill>
                <a:latin typeface="Calibri"/>
              </a:rPr>
              <a:t>Headroom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6987" y="2560320"/>
            <a:ext cx="32944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64748B"/>
                </a:solidFill>
                <a:latin typeface="Georgia"/>
              </a:rPr>
              <a:t>+22pp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74720"/>
            <a:ext cx="7586907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75869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Blended ITC rate: 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547" y="3547872"/>
            <a:ext cx="34773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Theoretical max: 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160520"/>
            <a:ext cx="2651760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§48E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onsolas"/>
              </a:rPr>
              <a:t>+30pp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Solar+battery zero-GHG qualified facility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37560" y="4160520"/>
            <a:ext cx="265176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PWA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onsolas"/>
              </a:rPr>
              <a:t>+10pp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Prevailing wage + apprenticeship (5-yr records retention; 5× penalty if non-compliant)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7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26479" y="4160520"/>
            <a:ext cx="2651760" cy="7315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63640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Domestic Content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+5pp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Duracell US-made battery + AMP modules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399" y="4160520"/>
            <a:ext cx="26517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15399" y="4160520"/>
            <a:ext cx="2651760" cy="73152"/>
          </a:xfrm>
          <a:prstGeom prst="rect">
            <a:avLst/>
          </a:prstGeom>
          <a:solidFill>
            <a:srgbClr val="C24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52559" y="43434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Energy Community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59" y="46634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4D"/>
                </a:solidFill>
                <a:latin typeface="Consolas"/>
              </a:rPr>
              <a:t>+3pp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4937759"/>
            <a:ext cx="2423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TX brownfield + coal-county census tracts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Per-home ITC face: $396,127 × 48% = $190,141   ·   Program-wide ITC face: $190,141 × 80,000 = $15.2B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IRC §48E adder framework · EDGE compliance workbook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9 / 15</a:t>
            </a:r>
          </a:p>
        </p:txBody>
      </p:sp>
    </p:spTree>
    <p:extLst>
      <p:ext uri="{BB962C8B-B14F-4D97-AF65-F5344CB8AC3E}">
        <p14:creationId xmlns:p14="http://schemas.microsoft.com/office/powerpoint/2010/main" val="269038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§704(B) ALLOCATION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90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Pre-flip 99/1 → Post-flip 5/95, per Rev. Proc. 2007-65 safe harbor.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PRE-FLIP   (Years 1-5)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Bank captures tax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POST-FLIP   (Years 6+)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945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Sponsor takes 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45720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Tax / Cash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788920"/>
            <a:ext cx="3154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29077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Pre-Flip Allocation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788920"/>
            <a:ext cx="36576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290779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Post-Flip Allocation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3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1071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§48E ITC (Year 1 of each vintage)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41071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1071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N/A — one-time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59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91363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§168(k) bonus depreciation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1363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1363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79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416551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§163(j) interest deduction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4165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16551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9194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Operating revenue (PPA + VPP + REC)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1947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91947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11384280" cy="502920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42239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Sponsor management fee deduction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42239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4223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06440"/>
            <a:ext cx="11384280" cy="502920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592531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Cash distributions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925312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F766E"/>
                </a:solidFill>
                <a:latin typeface="Consolas"/>
              </a:rPr>
              <a:t>99% Bank  /  1% 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92531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onsolas"/>
              </a:rPr>
              <a:t>5% Bank · 95% Sponsor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70600"/>
            <a:ext cx="1106424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E2761"/>
                </a:solidFill>
                <a:latin typeface="Calibri"/>
              </a:rPr>
              <a:t>Yield-based flip triggers when Class A reaches 8% after-tax IRR (60-month minimum hold per Rev. Proc. 2007-65 §4.06).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· draft JV LLC Operating Agreement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401714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SAFE HARBOR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Eight-point Rev. Proc. 2007-65 compliance — structured for safe-harbor treatment.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Compliance with each of the eight safe-harbor conditions supports IRS respect of the 99/1 → 5/95 split.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99% pre-flip / 5% post-flip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64992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Class A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60% of project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18504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sponsor guarantee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 in op agreement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233172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97696" y="2331720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4856" y="240487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83696" y="2395727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Single project 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474720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1 SPE per vintage (5 SPEs in EastWest's tranche)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Cash follows tax allocations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99/1 → 5/95 both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64992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02152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0992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2152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Minimum 5-year 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2152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60-mo. statutory min.; 72-mo. structural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81344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18504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7344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No mandatory put on sponsor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Confirmed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97696" y="4297679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997696" y="4297679"/>
            <a:ext cx="2697480" cy="4114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34856" y="4370831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Georgia"/>
              </a:rPr>
              <a:t>§4.08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83696" y="4361688"/>
            <a:ext cx="320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F766E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4846319"/>
            <a:ext cx="2423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Purchase option at FMV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6" y="5440679"/>
            <a:ext cx="2423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FMV-based at exercise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Rev. Proc. 2007-65 §§4.01-4.08 · draft JV LLC Operating Agreement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3224118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REQUIRED TAX ELECTIONS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E2761"/>
                </a:solidFill>
                <a:latin typeface="Georgia"/>
              </a:rPr>
              <a:t>Nine elections at JV's first Form 1065 filing.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Elections govern how tax items flow to Class A. Made at first Form 1065 filing per IRS rules; locked thereafter.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1064240" cy="4023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37744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37744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37744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88336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§704(b) QIO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79806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Qualified Income Offset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79806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9806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Satisfies SEE third prong (substantial economic effect test)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20040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§704(c)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20040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Remedial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20040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20040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Class A captures full book-equivalent depreciation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93008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360273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60273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100% bonus depreciation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60273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60273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Front-loads MACRS into pre-flip Year 1 (no opt-out)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00507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§50(c)(3)(A)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00507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ITC basis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00507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MANDATORY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00507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Depreciable basis reduced by 50% of credit claimed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97680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407408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§263A(f)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4407408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Capitalized interest into basis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4407408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407408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$7,608/unit basis lift (cap'd construction-period interest)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0016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809744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§168(i)(4)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809744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General Asset Account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809744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809744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Simplifies partial disposition rules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02352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212080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§163(j)(7)(A)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5212080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Real property trade/business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212080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212080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Preserves full interest deduction at JV level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04688"/>
            <a:ext cx="11064240" cy="402336"/>
          </a:xfrm>
          <a:prstGeom prst="rect">
            <a:avLst/>
          </a:prstGeom>
          <a:solidFill>
            <a:srgbClr val="F5F5F0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5614416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§6418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14600" y="5614416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Transferability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5614416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4748B"/>
                </a:solidFill>
                <a:latin typeface="Calibri"/>
              </a:rPr>
              <a:t>NOT ELECTED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614416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Credit stays at partnership for §704(b) allocation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907024"/>
            <a:ext cx="11064240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16752"/>
            <a:ext cx="15544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2761"/>
                </a:solidFill>
                <a:latin typeface="Consolas"/>
              </a:rPr>
              <a:t>§754 + §743(b)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4600" y="6016752"/>
            <a:ext cx="283464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Basis adjustment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016752"/>
            <a:ext cx="109728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766E"/>
                </a:solidFill>
                <a:latin typeface="Calibri"/>
              </a:rPr>
              <a:t>✓ MADE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6016752"/>
            <a:ext cx="4480560" cy="265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F2937"/>
                </a:solidFill>
                <a:latin typeface="Calibri"/>
              </a:rPr>
              <a:t>Basis step-up on Class A buy-in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Outside tax counsel opinion (pending) · IRC §704 regulations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RISK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Five-layer protection stack — insurance, indemnity, opinion,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38527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§48E ITC recapture (5-yr 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Aon-issued recapture insurance policy, A-rated (AM Best) carrier, 4¢/$ premium (~$7.5M on $188M gross ITC face (99% allocated to Class A) across 5 vintages). First-loss before sponsor indemnity. Covers all §50(a) and §6418(g)(3) recapture events.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0" y="2039112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15768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15768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79775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PWA compliance failure (5× penalty)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PWA covenant + uncapped indemnity for breach. Prevailing wage records retained 5 years. Apprenticeship documentation per §45(b)(7). Verified through third-party labor audit.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0" y="28803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INDEMNIFIED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57015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557015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3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FEOC compliance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77055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Sponsor warrants no Foreign Entity of Concern at placed-in-service. Engine FEOC gate at PIS zeros the credit if non-compliant per §45X(c)(7). Sponsor indemnifies for any breach.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3721607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WARRANTED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398264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46227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§704(b) SEE reallocation by 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18304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Outside tax counsel opinion pending on §704(b) Qualified Income Offset + Rev. Proc. 2007-65 safe-harbor compliance. Opinion to be finalized upon structure agreement with EastWest Bank; supplemental opinion available from Akin Gump or DLA Piper if required. Sponsor 5-7 yr tax indemnity tail.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84080" y="4562856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OPINED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9512"/>
            <a:ext cx="1106424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239512"/>
            <a:ext cx="73152" cy="76809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Sponsor operational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86868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Class A step-in rights on covenant defaults. Class A consent rights on material amendments, asset sales, additional debt. Sponsor 5-yr tax indemnity tail.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5404104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STRUCTURED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IC Memo  ·  Confidential  ·  Source: Aon recapture insurance term sheet · Outside tax counsel opinion (pending)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27607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TIMELINE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247120" cy="389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E2761"/>
                </a:solidFill>
                <a:latin typeface="Georgia"/>
              </a:rPr>
              <a:t>Six-month path from diligence kickoff to first vintage in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1371600" cy="274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63040" y="2697480"/>
            <a:ext cx="91440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2588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Diligence kickoff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Tax opinion + USPAP appraisal + insurance quote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Term sheet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Early Q3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Class A capital commitment + flip terms + indemnity tail</a:t>
            </a:r>
          </a:p>
        </p:txBody>
      </p:sp>
      <p:sp>
        <p:nvSpPr>
          <p:cNvPr id="20" name="Oval 19"/>
          <p:cNvSpPr/>
          <p:nvPr/>
        </p:nvSpPr>
        <p:spPr>
          <a:xfrm>
            <a:off x="690372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0372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8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39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Definitive agreements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LLC OpAg + ECCA + Side Letter + insurance binder</a:t>
            </a:r>
          </a:p>
        </p:txBody>
      </p:sp>
      <p:sp>
        <p:nvSpPr>
          <p:cNvPr id="27" name="Oval 26"/>
          <p:cNvSpPr/>
          <p:nvPr/>
        </p:nvSpPr>
        <p:spPr>
          <a:xfrm>
            <a:off x="9692640" y="2468879"/>
            <a:ext cx="457200" cy="4572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487168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C9A961"/>
                </a:solidFill>
                <a:latin typeface="Georgia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3154680"/>
            <a:ext cx="260604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15400" y="3154680"/>
            <a:ext cx="2606040" cy="45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52560" y="3291839"/>
            <a:ext cx="2331720" cy="2111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761"/>
                </a:solidFill>
                <a:latin typeface="Georgia"/>
              </a:rPr>
              <a:t>Vintage 1 placed in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6118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Q4 2026 / 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93192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Vintage 1: 200 homes — first $6.24M tranche deployed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440680"/>
            <a:ext cx="11064240" cy="1005840"/>
          </a:xfrm>
          <a:prstGeom prst="rect">
            <a:avLst/>
          </a:prstGeom>
          <a:solidFill>
            <a:srgbClr val="F5F5F0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40680"/>
            <a:ext cx="73152" cy="1005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321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2761"/>
                </a:solidFill>
                <a:latin typeface="Georgia"/>
              </a:rPr>
              <a:t>What we need from EastWest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(1) Initial diligence go/no-go within 2 weeks    (2) Confirm structure preference (vintage-laddered vs lump-sum)    (3) Tax counsel introduction for outside opinion coordination    (4) Confirmation of insurance carrier — Aon / Marsh / WTW (rate · capacity · A-rating)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4748B"/>
                </a:solidFill>
                <a:latin typeface="Calibri"/>
              </a:rPr>
              <a:t>EDGE Energy  ·  Tax Equity IC Memo  ·  Confidential — Prepared for EastWest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1713024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RECOMMENDED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Commit $31.2M to Class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E8D7A0"/>
                </a:solidFill>
                <a:latin typeface="Georgia"/>
              </a:rPr>
              <a:t>Capture 8.4% after-tax IRR.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2286000" cy="36576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977639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93192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$297M of total value captured over 8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062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vs. $31.2M cash invested + operating shields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7200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Vintage-laddered to match $50M/yr appetite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8006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no carry-forward erosion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66360"/>
            <a:ext cx="4572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12064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Rev. Proc. 2007-65 safe harbor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949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D7A0"/>
                </a:solidFill>
                <a:latin typeface="Calibri"/>
              </a:rPr>
              <a:t>Structured to satisfy each of the eight safe-harbor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Direct enquiries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9963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Paul Christodoulou  ·  CFO, EDGE Energy  ·  paul@energydevelopmentgroup.com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i="1">
                <a:solidFill>
                  <a:srgbClr val="C9A961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688D87-11C2-4241-AC19-2CC7F9F1018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8dbe444-3318-4e53-bd0d-4b49fb3180c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2591</Words>
  <Application>Microsoft Macintosh PowerPoint</Application>
  <PresentationFormat>Widescreen</PresentationFormat>
  <Paragraphs>485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christodoulou</cp:lastModifiedBy>
  <cp:revision>3</cp:revision>
  <dcterms:created xsi:type="dcterms:W3CDTF">2013-01-27T09:14:16Z</dcterms:created>
  <dcterms:modified xsi:type="dcterms:W3CDTF">2026-05-27T04:25:34Z</dcterms:modified>
  <cp:category/>
</cp:coreProperties>
</file>