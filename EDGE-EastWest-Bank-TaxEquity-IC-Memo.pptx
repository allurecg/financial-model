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71" r:id="rId3"/>
    <p:sldId id="259" r:id="rId5"/>
    <p:sldId id="273" r:id="rId6"/>
    <p:sldId id="261" r:id="rId7"/>
    <p:sldId id="274" r:id="rId8"/>
    <p:sldId id="272" r:id="rId4"/>
    <p:sldId id="268" r:id="rId14"/>
    <p:sldId id="282" r:id="rId10"/>
    <p:sldId id="275" r:id="rId9"/>
    <p:sldId id="276" r:id="rId11"/>
    <p:sldId id="267" r:id="rId13"/>
    <p:sldId id="277" r:id="rId12"/>
    <p:sldId id="280" r:id="rId15"/>
    <p:sldId id="270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58"/>
  </p:normalViewPr>
  <p:slideViewPr>
    <p:cSldViewPr snapToGrid="0" snapToObjects="1">
      <p:cViewPr varScale="1">
        <p:scale>
          <a:sx n="99" d="100"/>
          <a:sy n="99" d="100"/>
        </p:scale>
        <p:origin x="192" y="63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7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10.xml"/><Relationship Id="rId10" Type="http://schemas.openxmlformats.org/officeDocument/2006/relationships/slide" Target="slides/slide9.xml"/><Relationship Id="rId11" Type="http://schemas.openxmlformats.org/officeDocument/2006/relationships/slide" Target="slides/slide11.xml"/><Relationship Id="rId12" Type="http://schemas.openxmlformats.org/officeDocument/2006/relationships/slide" Target="slides/slide13.xml"/><Relationship Id="rId13" Type="http://schemas.openxmlformats.org/officeDocument/2006/relationships/slide" Target="slides/slide12.xml"/><Relationship Id="rId14" Type="http://schemas.openxmlformats.org/officeDocument/2006/relationships/slide" Target="slides/slide8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CONFIDENTIAL  ·  PREPARED MAY 26,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0" i="0">
                <a:solidFill>
                  <a:srgbClr val="FFFFFF"/>
                </a:solidFill>
                <a:latin typeface="Georgia"/>
              </a:rPr>
              <a:t>Solar Tax Equity Investment Opportunity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74320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1">
                <a:solidFill>
                  <a:srgbClr val="E8D7A0"/>
                </a:solidFill>
                <a:latin typeface="Georgia"/>
              </a:rPr>
              <a:t>EDGE Energy  ×  EastWest Bank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520440"/>
            <a:ext cx="2286000" cy="36576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3749039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FFFFFF"/>
                </a:solidFill>
                <a:latin typeface="Calibri"/>
              </a:rPr>
              <a:t>Sized to $50M Annual Tax Appetite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663440"/>
            <a:ext cx="23774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C9A961"/>
                </a:solidFill>
                <a:latin typeface="Georgia"/>
              </a:rPr>
              <a:t>$31.2M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34924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E2E8F0"/>
                </a:solidFill>
                <a:latin typeface="Calibri"/>
              </a:rPr>
              <a:t>Total commitment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4663440"/>
            <a:ext cx="23774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C9A961"/>
                </a:solidFill>
                <a:latin typeface="Georgia"/>
              </a:rPr>
              <a:t>8.4%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534924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E2E8F0"/>
                </a:solidFill>
                <a:latin typeface="Calibri"/>
              </a:rPr>
              <a:t>After-tax IRR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4663440"/>
            <a:ext cx="23774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C9A961"/>
                </a:solidFill>
                <a:latin typeface="Georgia"/>
              </a:rPr>
              <a:t>$297M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534924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E2E8F0"/>
                </a:solidFill>
                <a:latin typeface="Calibri"/>
              </a:rPr>
              <a:t>Total value captured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4663440"/>
            <a:ext cx="23774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C9A961"/>
                </a:solidFill>
                <a:latin typeface="Georgia"/>
              </a:rPr>
              <a:t>9.5×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0" y="534924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E2E8F0"/>
                </a:solidFill>
                <a:latin typeface="Calibri"/>
              </a:rPr>
              <a:t>Tax-benefit MOIC  ·  8.5× net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6263640"/>
            <a:ext cx="10058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E2E8F0"/>
                </a:solidFill>
                <a:latin typeface="Calibri"/>
              </a:rPr>
              <a:t>Prepared by EDGE Energy / MicroGRID Energy LLC  ·  Direct enquiries: Paul Christodoulou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247120" cy="3897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1E2761"/>
                </a:solidFill>
                <a:latin typeface="Georgia"/>
              </a:rPr>
              <a:t>A vintage-laddered Class A position sized to your $50M/yr tax appetite.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1371600" cy="27432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1064240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1F2937"/>
                </a:solidFill>
                <a:latin typeface="Calibri"/>
              </a:rPr>
              <a:t>EDGE Energy is deploying $3.5B of distributed residential solar+storage across ERCOT Texas — 80,000 systems through 2030, fully contracted under 20-year PPAs and Leases. EDGE Energy is offering EastWest Bank the Class A position in a Partnership Flip structure compliant with the IRS Rev. Proc. 2007-65 safe harbor.
Unlike a one-shot §6418 credit purchase, the partnership flip captures three stacked tax benefits — the §48E ITC at face value, 100% bonus depreciation under §168(k) on 5-year MACRS property, and 99% of operating loss allocations — all sized so each year's tax shield matches your $50M annual appetite.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43484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8640" y="4434840"/>
            <a:ext cx="2606040" cy="73152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4663440"/>
            <a:ext cx="23317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E2761"/>
                </a:solidFill>
                <a:latin typeface="Georgia"/>
              </a:rPr>
              <a:t>$31.2M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59"/>
            <a:ext cx="23317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Total Class A capital
over 5-year deployment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7560" y="443484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337560" y="4434840"/>
            <a:ext cx="2606040" cy="73152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474720" y="4663440"/>
            <a:ext cx="23317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E2761"/>
                </a:solidFill>
                <a:latin typeface="Georgia"/>
              </a:rPr>
              <a:t>8.4%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5394959"/>
            <a:ext cx="23317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Target after-tax IRR
to bank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79" y="443484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126479" y="4434840"/>
            <a:ext cx="2606040" cy="73152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263640" y="4663440"/>
            <a:ext cx="23317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E2761"/>
                </a:solidFill>
                <a:latin typeface="Georgia"/>
              </a:rPr>
              <a:t>$297M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5394959"/>
            <a:ext cx="23317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Total value captured
by bank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15399" y="443484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915399" y="4434840"/>
            <a:ext cx="2606040" cy="73152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052559" y="4663440"/>
            <a:ext cx="23317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E2761"/>
                </a:solidFill>
                <a:latin typeface="Georgia"/>
              </a:rPr>
              <a:t>9.5×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59" y="5394959"/>
            <a:ext cx="23317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Tax benefits / cash
invested  ·  8.5× net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4748B"/>
                </a:solidFill>
                <a:latin typeface="Calibri"/>
              </a:rPr>
              <a:t>EDGE Energy  ·  Tax Equity IC Memo  ·  Confidential — Prepared for EastWest Bank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Calibri"/>
              </a:rPr>
              <a:t>2 / 15</a:t>
            </a:r>
          </a:p>
        </p:txBody>
      </p:sp>
    </p:spTree>
    <p:extLst>
      <p:ext uri="{BB962C8B-B14F-4D97-AF65-F5344CB8AC3E}">
        <p14:creationId xmlns:p14="http://schemas.microsoft.com/office/powerpoint/2010/main" val="35519709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STRUCTURAL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247120" cy="4548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 i="0" dirty="0">
                <a:solidFill>
                  <a:srgbClr val="1E2761"/>
                </a:solidFill>
                <a:latin typeface="Georgia"/>
              </a:rPr>
              <a:t>Flip captures ~$231M more value than §6418 at $50M/yr appetite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02696"/>
            <a:ext cx="6418830" cy="68904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1064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64748B"/>
                </a:solidFill>
                <a:latin typeface="Calibri"/>
              </a:rPr>
              <a:t>Non-bank credit buyers (Apple, Walmart, Meta) use §6418 — clean one-shot purchase at 86¢/$ (their 14¢ discount becomes the profit). Banks have a structural advantage via partnership: $31M cash vs ~$215M for equivalent §6418 absorption.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423160"/>
            <a:ext cx="5440680" cy="3749039"/>
          </a:xfrm>
          <a:prstGeom prst="rect">
            <a:avLst/>
          </a:prstGeom>
          <a:solidFill>
            <a:srgbClr val="FFFFFF"/>
          </a:solidFill>
          <a:ln w="19050">
            <a:solidFill>
              <a:srgbClr val="C9A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8640" y="2423160"/>
            <a:ext cx="5440680" cy="50292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2514600"/>
            <a:ext cx="5440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F173F"/>
                </a:solidFill>
                <a:latin typeface="Georgia"/>
              </a:rPr>
              <a:t>PARTNERSHIP FLIP   (recommended)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00400"/>
            <a:ext cx="2971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§48E ITC monetization rate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39" y="3200400"/>
            <a:ext cx="21031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0F766E"/>
                </a:solidFill>
                <a:latin typeface="Calibri"/>
              </a:rPr>
              <a:t>100% face value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611880"/>
            <a:ext cx="2971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MACRS bonus depreciation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3611880"/>
            <a:ext cx="21031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0F766E"/>
                </a:solidFill>
                <a:latin typeface="Calibri"/>
              </a:rPr>
              <a:t>99% allocated to bank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023360"/>
            <a:ext cx="2971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Operating loss allocations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4023360"/>
            <a:ext cx="21031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0F766E"/>
                </a:solidFill>
                <a:latin typeface="Calibri"/>
              </a:rPr>
              <a:t>99% pre-flip to bank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434840"/>
            <a:ext cx="2971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Cash distributions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4434840"/>
            <a:ext cx="21031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0F766E"/>
                </a:solidFill>
                <a:latin typeface="Calibri"/>
              </a:rPr>
              <a:t>99% pre-flip to bank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46320"/>
            <a:ext cx="2971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Holding period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4846320"/>
            <a:ext cx="21031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0F766E"/>
                </a:solidFill>
                <a:latin typeface="Calibri"/>
              </a:rPr>
              <a:t>5+ yrs (Rev. Proc. 2007-65)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257800"/>
            <a:ext cx="2971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After-tax IRR (base case)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49039" y="5257800"/>
            <a:ext cx="21031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0F766E"/>
                </a:solidFill>
                <a:latin typeface="Calibri"/>
              </a:rPr>
              <a:t>8.4%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669280"/>
            <a:ext cx="2971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Net profit on $50M/yr appetite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5669280"/>
            <a:ext cx="21031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0F766E"/>
                </a:solidFill>
                <a:latin typeface="Calibri"/>
              </a:rPr>
              <a:t>~$266M  (over 5-yr deployment)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2423160"/>
            <a:ext cx="5440680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263640" y="2423160"/>
            <a:ext cx="5440680" cy="50292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92240" y="2514600"/>
            <a:ext cx="5440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Georgia"/>
              </a:rPr>
              <a:t>§6418 TRANSFER   (alternative)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3200400"/>
            <a:ext cx="2971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§48E ITC monetization rate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64040" y="3200400"/>
            <a:ext cx="21031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86–90¢ per $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3611880"/>
            <a:ext cx="2971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MACRS bonus depreciation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64040" y="3611880"/>
            <a:ext cx="21031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None — stays with sponsor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4023360"/>
            <a:ext cx="2971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Operating loss allocations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64040" y="4023360"/>
            <a:ext cx="21031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None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2240" y="4434840"/>
            <a:ext cx="2971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Cash distributions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64040" y="4434840"/>
            <a:ext cx="21031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None — one-time payment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92240" y="4846320"/>
            <a:ext cx="2971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Holding period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64040" y="4846320"/>
            <a:ext cx="21031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No continuing involvement post-purchase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5257800"/>
            <a:ext cx="2971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Effective return (14¢ discount)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64040" y="5257800"/>
            <a:ext cx="21031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~14% pre-tax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92240" y="5669280"/>
            <a:ext cx="2971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Net profit on $50M/yr appetite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64040" y="5669280"/>
            <a:ext cx="21031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~$35M  (5-yr × $7M discount)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40" y="6263640"/>
            <a:ext cx="11064240" cy="164592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548640" y="6263640"/>
            <a:ext cx="11064240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E8D7A0"/>
                </a:solidFill>
                <a:latin typeface="Calibri"/>
              </a:rPr>
              <a:t>Δ Flip captures +$231M more net profit on ~$184M less cash deployed (Flip: $31.2M / §6418: ~$215M cash outlay)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4748B"/>
                </a:solidFill>
                <a:latin typeface="Calibri"/>
              </a:rPr>
              <a:t>EDGE Energy IC Memo  ·  Confidential  ·  Source: EDGE financial model v60-40 · §6418 comparative analysis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Calibri"/>
              </a:rPr>
              <a:t>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CAPITAL 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247120" cy="3897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1E2761"/>
                </a:solidFill>
                <a:latin typeface="Georgia"/>
              </a:rPr>
              <a:t>EastWest Bank as Class A — 60% of project capex, 99% pre-flip allocation.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1371600" cy="27432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48640" y="2011680"/>
            <a:ext cx="4754880" cy="100584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2103120"/>
            <a:ext cx="4389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Senior Project Debt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4389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FFFFFF"/>
                </a:solidFill>
                <a:latin typeface="Calibri"/>
              </a:rPr>
              <a:t>Boundless v2.6 · 5-yr · 8%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40680" y="2331720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E2761"/>
                </a:solidFill>
                <a:latin typeface="Consolas"/>
              </a:rPr>
              <a:t>$13.0M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017520"/>
            <a:ext cx="4754880" cy="603504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3108960"/>
            <a:ext cx="4389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F2937"/>
                </a:solidFill>
                <a:latin typeface="Calibri"/>
              </a:rPr>
              <a:t>Sponsor Class B (EDGE)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429000"/>
            <a:ext cx="4389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1F2937"/>
                </a:solidFill>
                <a:latin typeface="Calibri"/>
              </a:rPr>
              <a:t>1% pre-flip · 95% post-flip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40680" y="3136392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E2761"/>
                </a:solidFill>
                <a:latin typeface="Consolas"/>
              </a:rPr>
              <a:t>$7.8M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621024"/>
            <a:ext cx="4754880" cy="241401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31520" y="3712464"/>
            <a:ext cx="4389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Class A Tax Equity (Bank)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032504"/>
            <a:ext cx="4389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FFFFFF"/>
                </a:solidFill>
                <a:latin typeface="Calibri"/>
              </a:rPr>
              <a:t>99% pre-flip · 5% post-flip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0680" y="4645152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E2761"/>
                </a:solidFill>
                <a:latin typeface="Consolas"/>
              </a:rPr>
              <a:t>$31.2M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080760"/>
            <a:ext cx="6126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48640" y="6172200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2937"/>
                </a:solidFill>
                <a:latin typeface="Calibri"/>
              </a:rPr>
              <a:t>EastWest's 1,000-home tranche capex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40680" y="617220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E2761"/>
                </a:solidFill>
                <a:latin typeface="Consolas"/>
              </a:rPr>
              <a:t>$52.0M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0" y="201168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E2761"/>
                </a:solidFill>
                <a:latin typeface="Georgia"/>
              </a:rPr>
              <a:t>Class A position summary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40880" y="2423160"/>
            <a:ext cx="4617720" cy="27432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040880" y="2606040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Class A capital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46920" y="2606040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E2761"/>
                </a:solidFill>
                <a:latin typeface="Calibri"/>
              </a:rPr>
              <a:t>60% × $52M = $31.2M (5-yr commit)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971800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Pre-flip allocation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46920" y="2971800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E2761"/>
                </a:solidFill>
                <a:latin typeface="Calibri"/>
              </a:rPr>
              <a:t>99% of all tax + cash items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3337560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Post-flip allocation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46920" y="3337560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E2761"/>
                </a:solidFill>
                <a:latin typeface="Calibri"/>
              </a:rPr>
              <a:t>5% (Rev. Proc. 2007-65 §4.01 min)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3703320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Target after-tax IRR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46920" y="3703320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E2761"/>
                </a:solidFill>
                <a:latin typeface="Calibri"/>
              </a:rPr>
              <a:t>8.4%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0" y="4069080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Hold period (minimum)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46920" y="4069080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E2761"/>
                </a:solidFill>
                <a:latin typeface="Calibri"/>
              </a:rPr>
              <a:t>5 years post-PIS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0880" y="4434840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Flip trigger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46920" y="4434840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E2761"/>
                </a:solidFill>
                <a:latin typeface="Calibri"/>
              </a:rPr>
              <a:t>Yield-based (after-tax IRR target)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0880" y="4800600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Sponsor purchase option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46920" y="4800600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E2761"/>
                </a:solidFill>
                <a:latin typeface="Calibri"/>
              </a:rPr>
              <a:t>At fair market value (§4.08)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40880" y="5166360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Recapture insurance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46920" y="5166360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E2761"/>
                </a:solidFill>
                <a:latin typeface="Calibri"/>
              </a:rPr>
              <a:t>Aon-issued, 4¢/$ premium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40880" y="5532120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Voting interest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46920" y="5532120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E2761"/>
                </a:solidFill>
                <a:latin typeface="Calibri"/>
              </a:rPr>
              <a:t>≤24.9% (BHCA compliance)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4748B"/>
                </a:solidFill>
                <a:latin typeface="Calibri"/>
              </a:rPr>
              <a:t>EDGE Energy IC Memo  ·  Confidential  ·  Source: EDGE financial model v60-40 · Boundless v2.6 debt term sheet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Calibri"/>
              </a:rPr>
              <a:t>4 / 15</a:t>
            </a:r>
          </a:p>
        </p:txBody>
      </p:sp>
    </p:spTree>
    <p:extLst>
      <p:ext uri="{BB962C8B-B14F-4D97-AF65-F5344CB8AC3E}">
        <p14:creationId xmlns:p14="http://schemas.microsoft.com/office/powerpoint/2010/main" val="38460855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SIZING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2471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 i="0">
                <a:solidFill>
                  <a:srgbClr val="1E2761"/>
                </a:solidFill>
                <a:latin typeface="Georgia"/>
              </a:rPr>
              <a:t>Vintage-laddered to match $50M annual appetite.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1371600" cy="27432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1064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1">
                <a:solidFill>
                  <a:srgbClr val="64748B"/>
                </a:solidFill>
                <a:latin typeface="Calibri"/>
              </a:rPr>
              <a:t>Each year EastWest invests $6.24M in one vintage SPE (200 homes). That vintage generates ≈$50M of Year-1 tax benefits (Class A's 99% pre-flip allocation; gross per-home values on slide 7) — the precise amount your $50M annual tax appetite can absorb. Repeated across 5 vintages = $31.2M total commitment.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606040"/>
            <a:ext cx="2194560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8640" y="2606040"/>
            <a:ext cx="2194560" cy="41148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2670048"/>
            <a:ext cx="21945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VINTAGE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108960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E2761"/>
                </a:solidFill>
                <a:latin typeface="Georgia"/>
              </a:rPr>
              <a:t>Year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3474720"/>
            <a:ext cx="93268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Homes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79" y="347472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1F2937"/>
                </a:solidFill>
                <a:latin typeface="Consolas"/>
              </a:rPr>
              <a:t>200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3767328"/>
            <a:ext cx="93268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Invest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79" y="376732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1F2937"/>
                </a:solidFill>
                <a:latin typeface="Consolas"/>
              </a:rPr>
              <a:t>$6.24M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4059936"/>
            <a:ext cx="93268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ITC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79" y="4059936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1F2937"/>
                </a:solidFill>
                <a:latin typeface="Consolas"/>
              </a:rPr>
              <a:t>$37.7M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4352544"/>
            <a:ext cx="93268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Dep shield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79" y="4352544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1F2937"/>
                </a:solidFill>
                <a:latin typeface="Consolas"/>
              </a:rPr>
              <a:t>$12.5M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4645152"/>
            <a:ext cx="93268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E2761"/>
                </a:solidFill>
                <a:latin typeface="Calibri"/>
              </a:rPr>
              <a:t>Total Y1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79" y="464515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0F766E"/>
                </a:solidFill>
                <a:latin typeface="Consolas"/>
              </a:rPr>
              <a:t>≈$50M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862072" y="2606040"/>
            <a:ext cx="2194560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2862072" y="2606040"/>
            <a:ext cx="2194560" cy="41148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862072" y="2670048"/>
            <a:ext cx="21945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VINTAGE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62072" y="3108960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E2761"/>
                </a:solidFill>
                <a:latin typeface="Georgia"/>
              </a:rPr>
              <a:t>Year 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26664" y="3474720"/>
            <a:ext cx="93268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Homes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67912" y="347472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1F2937"/>
                </a:solidFill>
                <a:latin typeface="Consolas"/>
              </a:rPr>
              <a:t>200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26664" y="3767328"/>
            <a:ext cx="93268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Invest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67912" y="376732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1F2937"/>
                </a:solidFill>
                <a:latin typeface="Consolas"/>
              </a:rPr>
              <a:t>$6.24M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26664" y="4059936"/>
            <a:ext cx="93268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ITC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67912" y="4059936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1F2937"/>
                </a:solidFill>
                <a:latin typeface="Consolas"/>
              </a:rPr>
              <a:t>$37.7M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26664" y="4352544"/>
            <a:ext cx="93268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Dep shield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67912" y="4352544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1F2937"/>
                </a:solidFill>
                <a:latin typeface="Consolas"/>
              </a:rPr>
              <a:t>$12.5M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26664" y="4645152"/>
            <a:ext cx="93268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E2761"/>
                </a:solidFill>
                <a:latin typeface="Calibri"/>
              </a:rPr>
              <a:t>Total Y1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67912" y="464515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0F766E"/>
                </a:solidFill>
                <a:latin typeface="Consolas"/>
              </a:rPr>
              <a:t>≈$50M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175503" y="2606040"/>
            <a:ext cx="2194560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5175503" y="2606040"/>
            <a:ext cx="2194560" cy="41148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175503" y="2670048"/>
            <a:ext cx="21945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VINTAGE 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75503" y="3108960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E2761"/>
                </a:solidFill>
                <a:latin typeface="Georgia"/>
              </a:rPr>
              <a:t>Year 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40095" y="3474720"/>
            <a:ext cx="93268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Homes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81344" y="347472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1F2937"/>
                </a:solidFill>
                <a:latin typeface="Consolas"/>
              </a:rPr>
              <a:t>200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40095" y="3767328"/>
            <a:ext cx="93268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Invest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81344" y="376732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1F2937"/>
                </a:solidFill>
                <a:latin typeface="Consolas"/>
              </a:rPr>
              <a:t>$6.24M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40095" y="4059936"/>
            <a:ext cx="93268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ITC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81344" y="4059936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1F2937"/>
                </a:solidFill>
                <a:latin typeface="Consolas"/>
              </a:rPr>
              <a:t>$37.7M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340095" y="4352544"/>
            <a:ext cx="93268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Dep shield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81344" y="4352544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1F2937"/>
                </a:solidFill>
                <a:latin typeface="Consolas"/>
              </a:rPr>
              <a:t>$12.5M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340095" y="4645152"/>
            <a:ext cx="93268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E2761"/>
                </a:solidFill>
                <a:latin typeface="Calibri"/>
              </a:rPr>
              <a:t>Total Y1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181344" y="464515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0F766E"/>
                </a:solidFill>
                <a:latin typeface="Consolas"/>
              </a:rPr>
              <a:t>≈$50M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488936" y="2606040"/>
            <a:ext cx="2194560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7488936" y="2606040"/>
            <a:ext cx="2194560" cy="41148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7488936" y="2670048"/>
            <a:ext cx="21945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VINTAGE 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488936" y="3108960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E2761"/>
                </a:solidFill>
                <a:latin typeface="Georgia"/>
              </a:rPr>
              <a:t>Year 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653527" y="3474720"/>
            <a:ext cx="93268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Homes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494776" y="347472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1F2937"/>
                </a:solidFill>
                <a:latin typeface="Consolas"/>
              </a:rPr>
              <a:t>200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653527" y="3767328"/>
            <a:ext cx="93268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Invest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494776" y="376732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1F2937"/>
                </a:solidFill>
                <a:latin typeface="Consolas"/>
              </a:rPr>
              <a:t>$6.24M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653527" y="4059936"/>
            <a:ext cx="93268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ITC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494776" y="4059936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1F2937"/>
                </a:solidFill>
                <a:latin typeface="Consolas"/>
              </a:rPr>
              <a:t>$37.7M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653527" y="4352544"/>
            <a:ext cx="93268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Dep shield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494776" y="4352544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1F2937"/>
                </a:solidFill>
                <a:latin typeface="Consolas"/>
              </a:rPr>
              <a:t>$12.5M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653527" y="4645152"/>
            <a:ext cx="93268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E2761"/>
                </a:solidFill>
                <a:latin typeface="Calibri"/>
              </a:rPr>
              <a:t>Total Y1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494776" y="464515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0F766E"/>
                </a:solidFill>
                <a:latin typeface="Consolas"/>
              </a:rPr>
              <a:t>≈$50M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802367" y="2606040"/>
            <a:ext cx="2194560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/>
          <p:cNvSpPr/>
          <p:nvPr/>
        </p:nvSpPr>
        <p:spPr>
          <a:xfrm>
            <a:off x="9802367" y="2606040"/>
            <a:ext cx="2194560" cy="41148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9802367" y="2670048"/>
            <a:ext cx="21945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VINTAGE 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802367" y="3108960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E2761"/>
                </a:solidFill>
                <a:latin typeface="Georgia"/>
              </a:rPr>
              <a:t>Year 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966959" y="3474720"/>
            <a:ext cx="93268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Homes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808207" y="347472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1F2937"/>
                </a:solidFill>
                <a:latin typeface="Consolas"/>
              </a:rPr>
              <a:t>200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966959" y="3767328"/>
            <a:ext cx="93268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Invest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808207" y="376732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1F2937"/>
                </a:solidFill>
                <a:latin typeface="Consolas"/>
              </a:rPr>
              <a:t>$6.24M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966959" y="4059936"/>
            <a:ext cx="93268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ITC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808207" y="4059936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1F2937"/>
                </a:solidFill>
                <a:latin typeface="Consolas"/>
              </a:rPr>
              <a:t>$37.7M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966959" y="4352544"/>
            <a:ext cx="93268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Dep shield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808207" y="4352544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1F2937"/>
                </a:solidFill>
                <a:latin typeface="Consolas"/>
              </a:rPr>
              <a:t>$12.5M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966959" y="4645152"/>
            <a:ext cx="93268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E2761"/>
                </a:solidFill>
                <a:latin typeface="Calibri"/>
              </a:rPr>
              <a:t>Total Y1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808207" y="464515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0F766E"/>
                </a:solidFill>
                <a:latin typeface="Consolas"/>
              </a:rPr>
              <a:t>≈$50M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48640" y="5212080"/>
            <a:ext cx="11064240" cy="777240"/>
          </a:xfrm>
          <a:prstGeom prst="rect">
            <a:avLst/>
          </a:prstGeom>
          <a:solidFill>
            <a:srgbClr val="F5F5F0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ectangle 76"/>
          <p:cNvSpPr/>
          <p:nvPr/>
        </p:nvSpPr>
        <p:spPr>
          <a:xfrm>
            <a:off x="548640" y="5212080"/>
            <a:ext cx="73152" cy="77724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777240" y="5303520"/>
            <a:ext cx="4114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5-YEAR PROGRAM TOTALS  ·  CLASS A 99% ALLOCATION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77240" y="5577840"/>
            <a:ext cx="4114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F173F"/>
                </a:solidFill>
                <a:latin typeface="Calibri"/>
              </a:rPr>
              <a:t>1,000 homes  ·  $31.2M Class A capital  ·  $188.5M ITC + $62.5M dep shield + $46.0M ops tail = $297M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229600" y="5376672"/>
            <a:ext cx="3200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Total value captured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229600" y="5596128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 i="0">
                <a:solidFill>
                  <a:srgbClr val="0F766E"/>
                </a:solidFill>
                <a:latin typeface="Georgia"/>
              </a:rPr>
              <a:t>$297M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4748B"/>
                </a:solidFill>
                <a:latin typeface="Calibri"/>
              </a:rPr>
              <a:t>EDGE Energy IC Memo  ·  Confidential  ·  Source: EDGE financial model v60-40 · §704(b) waterfall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Calibri"/>
              </a:rPr>
              <a:t>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CASH FLOW SCHEDULE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247120" cy="3897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1E2761"/>
                </a:solidFill>
                <a:latin typeface="Georgia"/>
              </a:rPr>
              <a:t>EastWest's 8-year cash flow — $31.2M out, $297M in, $266M net.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1371600" cy="27432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48640" y="1874519"/>
            <a:ext cx="11155680" cy="384048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920239"/>
            <a:ext cx="77724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Year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920239"/>
            <a:ext cx="160020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Investment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20239"/>
            <a:ext cx="205740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Inflow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1920239"/>
            <a:ext cx="196596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Net Annual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0" y="1920239"/>
            <a:ext cx="214884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Cumulative Net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258568"/>
            <a:ext cx="11155680" cy="384048"/>
          </a:xfrm>
          <a:prstGeom prst="rect">
            <a:avLst/>
          </a:prstGeom>
          <a:solidFill>
            <a:srgbClr val="FFFFFF"/>
          </a:solidFill>
          <a:ln w="31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2331720"/>
            <a:ext cx="77724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E2761"/>
                </a:solidFill>
                <a:latin typeface="Calibri"/>
              </a:rPr>
              <a:t>Year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2331720"/>
            <a:ext cx="160020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C2414D"/>
                </a:solidFill>
                <a:latin typeface="Consolas"/>
              </a:rPr>
              <a:t>($6.24M)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2331720"/>
            <a:ext cx="205740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1F2937"/>
                </a:solidFill>
                <a:latin typeface="Consolas"/>
              </a:rPr>
              <a:t>+$50.0M ITC+dep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0" y="2331720"/>
            <a:ext cx="196596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0F766E"/>
                </a:solidFill>
                <a:latin typeface="Consolas"/>
              </a:rPr>
              <a:t>+$43.8M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0" y="2331720"/>
            <a:ext cx="214884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0F766E"/>
                </a:solidFill>
                <a:latin typeface="Consolas"/>
              </a:rPr>
              <a:t>+$43.8M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2642615"/>
            <a:ext cx="11155680" cy="384048"/>
          </a:xfrm>
          <a:prstGeom prst="rect">
            <a:avLst/>
          </a:prstGeom>
          <a:solidFill>
            <a:srgbClr val="F5F5F0"/>
          </a:solidFill>
          <a:ln w="31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5800" y="2715768"/>
            <a:ext cx="77724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E2761"/>
                </a:solidFill>
                <a:latin typeface="Calibri"/>
              </a:rPr>
              <a:t>Year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2715768"/>
            <a:ext cx="160020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C2414D"/>
                </a:solidFill>
                <a:latin typeface="Consolas"/>
              </a:rPr>
              <a:t>($6.24M)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2715768"/>
            <a:ext cx="205740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1F2937"/>
                </a:solidFill>
                <a:latin typeface="Consolas"/>
              </a:rPr>
              <a:t>+$52.0M (V2 + V1 ops)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0" y="2715768"/>
            <a:ext cx="196596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0F766E"/>
                </a:solidFill>
                <a:latin typeface="Consolas"/>
              </a:rPr>
              <a:t>+$45.8M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18320" y="2715768"/>
            <a:ext cx="214884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0F766E"/>
                </a:solidFill>
                <a:latin typeface="Consolas"/>
              </a:rPr>
              <a:t>+$89.6M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3026663"/>
            <a:ext cx="11155680" cy="384048"/>
          </a:xfrm>
          <a:prstGeom prst="rect">
            <a:avLst/>
          </a:prstGeom>
          <a:solidFill>
            <a:srgbClr val="FFFFFF"/>
          </a:solidFill>
          <a:ln w="31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85800" y="3099815"/>
            <a:ext cx="77724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E2761"/>
                </a:solidFill>
                <a:latin typeface="Calibri"/>
              </a:rPr>
              <a:t>Year 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63040" y="3099815"/>
            <a:ext cx="160020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C2414D"/>
                </a:solidFill>
                <a:latin typeface="Consolas"/>
              </a:rPr>
              <a:t>($6.24M)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3099815"/>
            <a:ext cx="205740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1F2937"/>
                </a:solidFill>
                <a:latin typeface="Consolas"/>
              </a:rPr>
              <a:t>+$54.0M (V3 + ops)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0" y="3099815"/>
            <a:ext cx="196596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0F766E"/>
                </a:solidFill>
                <a:latin typeface="Consolas"/>
              </a:rPr>
              <a:t>+$47.8M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3099815"/>
            <a:ext cx="214884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0F766E"/>
                </a:solidFill>
                <a:latin typeface="Consolas"/>
              </a:rPr>
              <a:t>+$137.4M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3410711"/>
            <a:ext cx="11155680" cy="384048"/>
          </a:xfrm>
          <a:prstGeom prst="rect">
            <a:avLst/>
          </a:prstGeom>
          <a:solidFill>
            <a:srgbClr val="F5F5F0"/>
          </a:solidFill>
          <a:ln w="31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85800" y="3483863"/>
            <a:ext cx="77724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E2761"/>
                </a:solidFill>
                <a:latin typeface="Calibri"/>
              </a:rPr>
              <a:t>Year 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63040" y="3483863"/>
            <a:ext cx="160020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C2414D"/>
                </a:solidFill>
                <a:latin typeface="Consolas"/>
              </a:rPr>
              <a:t>($6.24M)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0400" y="3483863"/>
            <a:ext cx="205740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1F2937"/>
                </a:solidFill>
                <a:latin typeface="Consolas"/>
              </a:rPr>
              <a:t>+$56.0M (V4 + ops)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0" y="3483863"/>
            <a:ext cx="196596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0F766E"/>
                </a:solidFill>
                <a:latin typeface="Consolas"/>
              </a:rPr>
              <a:t>+$49.8M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8320" y="3483863"/>
            <a:ext cx="214884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0F766E"/>
                </a:solidFill>
                <a:latin typeface="Consolas"/>
              </a:rPr>
              <a:t>+$187.2M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40" y="3794759"/>
            <a:ext cx="11155680" cy="384048"/>
          </a:xfrm>
          <a:prstGeom prst="rect">
            <a:avLst/>
          </a:prstGeom>
          <a:solidFill>
            <a:srgbClr val="FFFFFF"/>
          </a:solidFill>
          <a:ln w="31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85800" y="3867911"/>
            <a:ext cx="77724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E2761"/>
                </a:solidFill>
                <a:latin typeface="Calibri"/>
              </a:rPr>
              <a:t>Year 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463040" y="3867911"/>
            <a:ext cx="160020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C2414D"/>
                </a:solidFill>
                <a:latin typeface="Consolas"/>
              </a:rPr>
              <a:t>($6.24M)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200400" y="3867911"/>
            <a:ext cx="205740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1F2937"/>
                </a:solidFill>
                <a:latin typeface="Consolas"/>
              </a:rPr>
              <a:t>+$58.0M (V5 + ops)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0" y="3867911"/>
            <a:ext cx="196596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0F766E"/>
                </a:solidFill>
                <a:latin typeface="Consolas"/>
              </a:rPr>
              <a:t>+$51.8M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18320" y="3867911"/>
            <a:ext cx="214884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0F766E"/>
                </a:solidFill>
                <a:latin typeface="Consolas"/>
              </a:rPr>
              <a:t>+$239.0M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48640" y="4178808"/>
            <a:ext cx="11155680" cy="384048"/>
          </a:xfrm>
          <a:prstGeom prst="rect">
            <a:avLst/>
          </a:prstGeom>
          <a:solidFill>
            <a:srgbClr val="F5F5F0"/>
          </a:solidFill>
          <a:ln w="31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85800" y="4251960"/>
            <a:ext cx="77724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E2761"/>
                </a:solidFill>
                <a:latin typeface="Calibri"/>
              </a:rPr>
              <a:t>Year 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463040" y="4251960"/>
            <a:ext cx="160020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1F2937"/>
                </a:solidFill>
                <a:latin typeface="Consolas"/>
              </a:rPr>
              <a:t>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200400" y="4251960"/>
            <a:ext cx="205740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1F2937"/>
                </a:solidFill>
                <a:latin typeface="Consolas"/>
              </a:rPr>
              <a:t>+$11.0M tail ops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15200" y="4251960"/>
            <a:ext cx="196596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0F766E"/>
                </a:solidFill>
                <a:latin typeface="Consolas"/>
              </a:rPr>
              <a:t>+$11.0M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418320" y="4251960"/>
            <a:ext cx="214884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0F766E"/>
                </a:solidFill>
                <a:latin typeface="Consolas"/>
              </a:rPr>
              <a:t>+$250.0M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48640" y="4562856"/>
            <a:ext cx="11155680" cy="384048"/>
          </a:xfrm>
          <a:prstGeom prst="rect">
            <a:avLst/>
          </a:prstGeom>
          <a:solidFill>
            <a:srgbClr val="FFFFFF"/>
          </a:solidFill>
          <a:ln w="31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685800" y="4636008"/>
            <a:ext cx="77724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E2761"/>
                </a:solidFill>
                <a:latin typeface="Calibri"/>
              </a:rPr>
              <a:t>Year 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463040" y="4636008"/>
            <a:ext cx="160020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1F2937"/>
                </a:solidFill>
                <a:latin typeface="Consolas"/>
              </a:rPr>
              <a:t>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200400" y="4636008"/>
            <a:ext cx="205740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1F2937"/>
                </a:solidFill>
                <a:latin typeface="Consolas"/>
              </a:rPr>
              <a:t>+$9.0M V1 flip + tail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315200" y="4636008"/>
            <a:ext cx="196596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0F766E"/>
                </a:solidFill>
                <a:latin typeface="Consolas"/>
              </a:rPr>
              <a:t>+$9.0M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418320" y="4636008"/>
            <a:ext cx="214884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0F766E"/>
                </a:solidFill>
                <a:latin typeface="Consolas"/>
              </a:rPr>
              <a:t>+$259.0M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4946904"/>
            <a:ext cx="11155680" cy="384048"/>
          </a:xfrm>
          <a:prstGeom prst="rect">
            <a:avLst/>
          </a:prstGeom>
          <a:solidFill>
            <a:srgbClr val="F5F5F0"/>
          </a:solidFill>
          <a:ln w="31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685800" y="5020056"/>
            <a:ext cx="77724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E2761"/>
                </a:solidFill>
                <a:latin typeface="Calibri"/>
              </a:rPr>
              <a:t>Year 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463040" y="5020056"/>
            <a:ext cx="160020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1F2937"/>
                </a:solidFill>
                <a:latin typeface="Consolas"/>
              </a:rPr>
              <a:t>—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200400" y="5020056"/>
            <a:ext cx="205740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1F2937"/>
                </a:solidFill>
                <a:latin typeface="Consolas"/>
              </a:rPr>
              <a:t>+$7.0M V2-V3 tail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315200" y="5020056"/>
            <a:ext cx="196596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0F766E"/>
                </a:solidFill>
                <a:latin typeface="Consolas"/>
              </a:rPr>
              <a:t>+$7.0M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418320" y="5020056"/>
            <a:ext cx="214884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0F766E"/>
                </a:solidFill>
                <a:latin typeface="Consolas"/>
              </a:rPr>
              <a:t>+$266.0M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48640" y="5330952"/>
            <a:ext cx="11155680" cy="429768"/>
          </a:xfrm>
          <a:prstGeom prst="rect">
            <a:avLst/>
          </a:prstGeom>
          <a:solidFill>
            <a:srgbClr val="0F1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685800" y="5422392"/>
            <a:ext cx="777240" cy="338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C9A961"/>
                </a:solidFill>
                <a:latin typeface="Calibri"/>
              </a:rPr>
              <a:t>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463040" y="5422392"/>
            <a:ext cx="1600200" cy="338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Consolas"/>
              </a:rPr>
              <a:t>($31.2M)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200400" y="5422392"/>
            <a:ext cx="2057400" cy="338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Consolas"/>
              </a:rPr>
              <a:t>$297M total inflows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315200" y="5422392"/>
            <a:ext cx="1965960" cy="338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Consolas"/>
              </a:rPr>
              <a:t>$266M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418320" y="5422392"/>
            <a:ext cx="2148840" cy="338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endParaRPr/>
          </a:p>
        </p:txBody>
      </p:sp>
      <p:sp>
        <p:nvSpPr>
          <p:cNvPr id="75" name="Rectangle 74"/>
          <p:cNvSpPr/>
          <p:nvPr/>
        </p:nvSpPr>
        <p:spPr>
          <a:xfrm>
            <a:off x="548640" y="5816600"/>
            <a:ext cx="5486400" cy="609600"/>
          </a:xfrm>
          <a:prstGeom prst="rect">
            <a:avLst/>
          </a:prstGeom>
          <a:solidFill>
            <a:srgbClr val="F5F5F0"/>
          </a:solidFill>
          <a:ln w="12700">
            <a:solidFill>
              <a:srgbClr val="C9A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Rectangle 75"/>
          <p:cNvSpPr/>
          <p:nvPr/>
        </p:nvSpPr>
        <p:spPr>
          <a:xfrm>
            <a:off x="548640" y="5816600"/>
            <a:ext cx="73152" cy="6096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777240" y="5867400"/>
            <a:ext cx="52120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After-tax IRR (base case)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77240" y="6121400"/>
            <a:ext cx="521208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F766E"/>
                </a:solidFill>
                <a:latin typeface="Georgia"/>
              </a:rPr>
              <a:t>8.4%   ·   9.5× gross MOIC   ·   8.5× net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263640" y="5816600"/>
            <a:ext cx="5349240" cy="609600"/>
          </a:xfrm>
          <a:prstGeom prst="rect">
            <a:avLst/>
          </a:prstGeom>
          <a:solidFill>
            <a:srgbClr val="F5F5F0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6400800" y="5867400"/>
            <a:ext cx="52120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Sensitivity range: ITC at 38% (PWA fails) / 48% (base) / 58% (+ LMI adder)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400800" y="6121400"/>
            <a:ext cx="521208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E2761"/>
                </a:solidFill>
                <a:latin typeface="Georgia"/>
              </a:rPr>
              <a:t>5.2%  →  8.4%  →  9.1%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4748B"/>
                </a:solidFill>
                <a:latin typeface="Calibri"/>
              </a:rPr>
              <a:t>EDGE Energy IC Memo  ·  Confidential  ·  Source: EDGE financial model v60-40 · Class A flip waterfall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Calibri"/>
              </a:rPr>
              <a:t>6 / 15</a:t>
            </a:r>
          </a:p>
        </p:txBody>
      </p:sp>
    </p:spTree>
    <p:extLst>
      <p:ext uri="{BB962C8B-B14F-4D97-AF65-F5344CB8AC3E}">
        <p14:creationId xmlns:p14="http://schemas.microsoft.com/office/powerpoint/2010/main" val="20747697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THE OPPORTUNITY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247120" cy="3897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1E2761"/>
                </a:solidFill>
                <a:latin typeface="Georgia"/>
              </a:rPr>
              <a:t>A $3.5B distributed solar program with 20-year contracted cash flows.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1371600" cy="27432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5943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E2761"/>
                </a:solidFill>
                <a:latin typeface="Georgia"/>
              </a:rPr>
              <a:t>Program at a glance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286000"/>
            <a:ext cx="45720" cy="4572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2286000"/>
            <a:ext cx="56692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80,000 systems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14600"/>
            <a:ext cx="56692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4748B"/>
                </a:solidFill>
                <a:latin typeface="Calibri"/>
              </a:rPr>
              <a:t>deployed across ERCOT Texas through 2030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852928"/>
            <a:ext cx="45720" cy="4572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2852928"/>
            <a:ext cx="56692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$3.5B program capex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081528"/>
            <a:ext cx="56692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4748B"/>
                </a:solidFill>
                <a:latin typeface="Calibri"/>
              </a:rPr>
              <a:t>delivered through 2030  ·  EastWest tranche: $52M (1.5% of program capex)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419856"/>
            <a:ext cx="45720" cy="4572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77240" y="3419856"/>
            <a:ext cx="56692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20-year PPA + Lease contracts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648456"/>
            <a:ext cx="56692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4748B"/>
                </a:solidFill>
                <a:latin typeface="Calibri"/>
              </a:rPr>
              <a:t>fully executed (delivered May 25, 2026)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986784"/>
            <a:ext cx="45720" cy="4572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77240" y="3986784"/>
            <a:ext cx="56692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48% blended ITC rate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215384"/>
            <a:ext cx="56692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4748B"/>
                </a:solidFill>
                <a:latin typeface="Calibri"/>
              </a:rPr>
              <a:t>Base 30% + PWA 10pp + Domestic Content 5pp + Energy Community 3pp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553712"/>
            <a:ext cx="45720" cy="4572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77240" y="4553712"/>
            <a:ext cx="56692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USPAP-MAI cost-seg appraisal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782312"/>
            <a:ext cx="56692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4748B"/>
                </a:solidFill>
                <a:latin typeface="Calibri"/>
              </a:rPr>
              <a:t>CPA FMV report completed (interim §48E basis $396,127/unit); formal MAI appraisal (Lauren Hill) in progress — expected end Q2 2026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5120640"/>
            <a:ext cx="45720" cy="4572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77240" y="5120640"/>
            <a:ext cx="56692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Boundless v2.6 senior debt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349240"/>
            <a:ext cx="56692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4748B"/>
                </a:solidFill>
                <a:latin typeface="Calibri"/>
              </a:rPr>
              <a:t>8% coupon, 5-yr term + warehouse takeout at M60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040880" y="1828800"/>
            <a:ext cx="4617720" cy="4297680"/>
          </a:xfrm>
          <a:prstGeom prst="rect">
            <a:avLst/>
          </a:prstGeom>
          <a:solidFill>
            <a:srgbClr val="F5F5F0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7040880" y="1828800"/>
            <a:ext cx="4617720" cy="73152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269480" y="2011680"/>
            <a:ext cx="4251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E2761"/>
                </a:solidFill>
                <a:latin typeface="Georgia"/>
              </a:rPr>
              <a:t>Per-home economics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69480" y="2514600"/>
            <a:ext cx="2743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§48E qualified basis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12680" y="2514600"/>
            <a:ext cx="15087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1E2761"/>
                </a:solidFill>
                <a:latin typeface="Consolas"/>
              </a:rPr>
              <a:t>$396,127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69480" y="2843784"/>
            <a:ext cx="2743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Blended ITC rate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12680" y="2843784"/>
            <a:ext cx="15087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1E2761"/>
                </a:solidFill>
                <a:latin typeface="Consolas"/>
              </a:rPr>
              <a:t>48%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69480" y="3172968"/>
            <a:ext cx="2743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§48E ITC face per home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12680" y="3172968"/>
            <a:ext cx="15087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1E2761"/>
                </a:solidFill>
                <a:latin typeface="Consolas"/>
              </a:rPr>
              <a:t>$190,141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69480" y="3502151"/>
            <a:ext cx="2743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§50(c)(3) basis reduction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12680" y="3502151"/>
            <a:ext cx="15087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1E2761"/>
                </a:solidFill>
                <a:latin typeface="Consolas"/>
              </a:rPr>
              <a:t>($95,070)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69480" y="3831335"/>
            <a:ext cx="2743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MACRS depreciable basis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12680" y="3831335"/>
            <a:ext cx="15087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1E2761"/>
                </a:solidFill>
                <a:latin typeface="Consolas"/>
              </a:rPr>
              <a:t>$301,057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69480" y="4160520"/>
            <a:ext cx="2743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§168(k) 100% bonus dep (Y1)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12680" y="4160520"/>
            <a:ext cx="15087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1E2761"/>
                </a:solidFill>
                <a:latin typeface="Consolas"/>
              </a:rPr>
              <a:t>$301,057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69480" y="4489704"/>
            <a:ext cx="2743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Tax shield per home (Y1, 21%)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12680" y="4489704"/>
            <a:ext cx="15087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1E2761"/>
                </a:solidFill>
                <a:latin typeface="Consolas"/>
              </a:rPr>
              <a:t>$63,222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269480" y="4864608"/>
            <a:ext cx="416052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269480" y="4956048"/>
            <a:ext cx="4251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4748B"/>
                </a:solidFill>
                <a:latin typeface="Calibri"/>
              </a:rPr>
              <a:t>Direct credit + tax shield captured Year 1 of each vintage.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4748B"/>
                </a:solidFill>
                <a:latin typeface="Calibri"/>
              </a:rPr>
              <a:t>EDGE Energy IC Memo  ·  Confidential  ·  Source: CPA FMV report (completed) · USPAP-MAI appraisal (in progress) · EDGE financial model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Calibri"/>
              </a:rPr>
              <a:t>7 / 15</a:t>
            </a:r>
          </a:p>
        </p:txBody>
      </p:sp>
    </p:spTree>
    <p:extLst>
      <p:ext uri="{BB962C8B-B14F-4D97-AF65-F5344CB8AC3E}">
        <p14:creationId xmlns:p14="http://schemas.microsoft.com/office/powerpoint/2010/main" val="32478484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ABOUT THE SPONSOR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2471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 i="0">
                <a:solidFill>
                  <a:srgbClr val="1E2761"/>
                </a:solidFill>
                <a:latin typeface="Georgia"/>
              </a:rPr>
              <a:t>EDGE Energy — TX-licensed distributed solar developer.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1371600" cy="27432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6858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E2761"/>
                </a:solidFill>
                <a:latin typeface="Georgia"/>
              </a:rPr>
              <a:t>Who we are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286000"/>
            <a:ext cx="45720" cy="64008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2286000"/>
            <a:ext cx="63550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EDGE Energy / MicroGRID Energy LLC develops, finances, and operates distributed residential solar+storage projects across ERCOT Texas.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035808"/>
            <a:ext cx="45720" cy="64008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3035808"/>
            <a:ext cx="63550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Sponsor principals: Paul Christodoulou (CFO), Mark Bench (CEO), Greg Kelsch (CIO).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785615"/>
            <a:ext cx="45720" cy="64008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3785615"/>
            <a:ext cx="63550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Affiliated TX-licensed installer network (TriSMART Solar + others) executes deployment under TDLR §71 + electrical code §1305.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535424"/>
            <a:ext cx="45720" cy="64008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77240" y="4535424"/>
            <a:ext cx="63550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20-year contracts with homeowner counterparties under EDGE Solar Lease v1.4 and EDGE PPA v5.4 (delivered May 25, 2026; 41 + 44 pages respectively).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89520" y="1828800"/>
            <a:ext cx="4069080" cy="4114800"/>
          </a:xfrm>
          <a:prstGeom prst="rect">
            <a:avLst/>
          </a:prstGeom>
          <a:solidFill>
            <a:srgbClr val="F5F5F0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589520" y="1828800"/>
            <a:ext cx="4069080" cy="73152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772400" y="2011680"/>
            <a:ext cx="3703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E2761"/>
                </a:solidFill>
                <a:latin typeface="Georgia"/>
              </a:rPr>
              <a:t>Diligence package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2331720"/>
            <a:ext cx="3703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4748B"/>
                </a:solidFill>
                <a:latin typeface="Calibri"/>
              </a:rPr>
              <a:t>Ready for review.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274320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F766E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2743200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1F2937"/>
                </a:solidFill>
                <a:latin typeface="Calibri"/>
              </a:rPr>
              <a:t>Outside tax counsel opinion (pending) — supplemental via Akin Gump / DLA Piper if required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0" y="310896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F766E"/>
                </a:solidFill>
                <a:latin typeface="Calibr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3108960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1F2937"/>
                </a:solidFill>
                <a:latin typeface="Calibri"/>
              </a:rPr>
              <a:t>USPAP-MAI cost-seg appraisal (Lauren Hill)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347472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F766E"/>
                </a:solidFill>
                <a:latin typeface="Calibr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3474720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1F2937"/>
                </a:solidFill>
                <a:latin typeface="Calibri"/>
              </a:rPr>
              <a:t>Recapture insurance term sheet (Aon)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0" y="384048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F766E"/>
                </a:solidFill>
                <a:latin typeface="Calibri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38160" y="3840480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1F2937"/>
                </a:solidFill>
                <a:latin typeface="Calibri"/>
              </a:rPr>
              <a:t>PWA compliance plan + records template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0" y="420624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F766E"/>
                </a:solidFill>
                <a:latin typeface="Calibr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0" y="4206240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1F2937"/>
                </a:solidFill>
                <a:latin typeface="Calibri"/>
              </a:rPr>
              <a:t>Domestic Content workbook (Duracell US BoM)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0" y="457200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F766E"/>
                </a:solidFill>
                <a:latin typeface="Calibri"/>
              </a:rP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38160" y="4572000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1F2937"/>
                </a:solidFill>
                <a:latin typeface="Calibri"/>
              </a:rPr>
              <a:t>Energy Community census tract attestation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0" y="493776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F766E"/>
                </a:solidFill>
                <a:latin typeface="Calibri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38160" y="4937760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1F2937"/>
                </a:solidFill>
                <a:latin typeface="Calibri"/>
              </a:rPr>
              <a:t>Delivered Lease v1.4 + PPA v5.4 contracts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530352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F766E"/>
                </a:solidFill>
                <a:latin typeface="Calibri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60" y="5303520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1F2937"/>
                </a:solidFill>
                <a:latin typeface="Calibri"/>
              </a:rPr>
              <a:t>Financial model v60-40 (audit-converged)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4748B"/>
                </a:solidFill>
                <a:latin typeface="Calibri"/>
              </a:rPr>
              <a:t>EDGE Energy IC Memo  ·  Confidential  ·  Source: EDGE Energy LLC corporate disclosures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Calibri"/>
              </a:rPr>
              <a:t>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CREDIT RATE BUILD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2471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 i="0">
                <a:solidFill>
                  <a:srgbClr val="1E2761"/>
                </a:solidFill>
                <a:latin typeface="Georgia"/>
              </a:rPr>
              <a:t>Blended ITC rate stacks to 48% through three adders.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1371600" cy="27432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48640" y="2103120"/>
            <a:ext cx="4741817" cy="128016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4558937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§48E base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60320"/>
            <a:ext cx="455893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Georgia"/>
              </a:rPr>
              <a:t>+30pp</a:t>
            </a:r>
          </a:p>
        </p:txBody>
      </p:sp>
      <p:sp>
        <p:nvSpPr>
          <p:cNvPr id="8" name="Rectangle 7"/>
          <p:cNvSpPr/>
          <p:nvPr/>
        </p:nvSpPr>
        <p:spPr>
          <a:xfrm>
            <a:off x="5290457" y="2103120"/>
            <a:ext cx="1580605" cy="128016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381897" y="2194560"/>
            <a:ext cx="1397725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2937"/>
                </a:solidFill>
                <a:latin typeface="Calibri"/>
              </a:rPr>
              <a:t>PWA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81897" y="2560320"/>
            <a:ext cx="139772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F2937"/>
                </a:solidFill>
                <a:latin typeface="Georgia"/>
              </a:rPr>
              <a:t>+10pp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71062" y="2103120"/>
            <a:ext cx="790302" cy="128016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962502" y="2194560"/>
            <a:ext cx="607422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DC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62502" y="2560320"/>
            <a:ext cx="607422" cy="2273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Georgia"/>
              </a:rPr>
              <a:t>+5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61365" y="2103120"/>
            <a:ext cx="474181" cy="1280160"/>
          </a:xfrm>
          <a:prstGeom prst="rect">
            <a:avLst/>
          </a:prstGeom>
          <a:solidFill>
            <a:srgbClr val="C24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752805" y="2194560"/>
            <a:ext cx="291301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EC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52805" y="2560320"/>
            <a:ext cx="291301" cy="2273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Georgia"/>
              </a:rPr>
              <a:t>+3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5547" y="2103120"/>
            <a:ext cx="3477332" cy="12801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6987" y="2194560"/>
            <a:ext cx="329445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1">
                <a:solidFill>
                  <a:srgbClr val="64748B"/>
                </a:solidFill>
                <a:latin typeface="Calibri"/>
              </a:rPr>
              <a:t>Headroom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6987" y="2560320"/>
            <a:ext cx="329445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1">
                <a:solidFill>
                  <a:srgbClr val="64748B"/>
                </a:solidFill>
                <a:latin typeface="Georgia"/>
              </a:rPr>
              <a:t>+22pp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474720"/>
            <a:ext cx="7586907" cy="27432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48640" y="3547872"/>
            <a:ext cx="758690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E2761"/>
                </a:solidFill>
                <a:latin typeface="Georgia"/>
              </a:rPr>
              <a:t>Blended ITC rate: 48%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5547" y="3547872"/>
            <a:ext cx="34773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1">
                <a:solidFill>
                  <a:srgbClr val="64748B"/>
                </a:solidFill>
                <a:latin typeface="Calibri"/>
              </a:rPr>
              <a:t>Theoretical max: 70%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160520"/>
            <a:ext cx="265176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548640" y="4160520"/>
            <a:ext cx="2651760" cy="73152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85800" y="434340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E2761"/>
                </a:solidFill>
                <a:latin typeface="Georgia"/>
              </a:rPr>
              <a:t>§48E base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466344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E2761"/>
                </a:solidFill>
                <a:latin typeface="Consolas"/>
              </a:rPr>
              <a:t>+30pp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4937759"/>
            <a:ext cx="24231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64748B"/>
                </a:solidFill>
                <a:latin typeface="Calibri"/>
              </a:rPr>
              <a:t>Solar+battery zero-GHG qualified facility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37560" y="4160520"/>
            <a:ext cx="265176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3337560" y="4160520"/>
            <a:ext cx="2651760" cy="73152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474720" y="434340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E2761"/>
                </a:solidFill>
                <a:latin typeface="Georgia"/>
              </a:rPr>
              <a:t>PWA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74720" y="466344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onsolas"/>
              </a:rPr>
              <a:t>+10pp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74720" y="4937759"/>
            <a:ext cx="24231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64748B"/>
                </a:solidFill>
                <a:latin typeface="Calibri"/>
              </a:rPr>
              <a:t>Prevailing wage + apprenticeship (5-yr records retention; 5× penalty if non-compliant)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26479" y="4160520"/>
            <a:ext cx="265176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126479" y="4160520"/>
            <a:ext cx="2651760" cy="73152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263640" y="434340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E2761"/>
                </a:solidFill>
                <a:latin typeface="Georgia"/>
              </a:rPr>
              <a:t>Domestic Content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63640" y="466344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F766E"/>
                </a:solidFill>
                <a:latin typeface="Consolas"/>
              </a:rPr>
              <a:t>+5pp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63640" y="4937759"/>
            <a:ext cx="24231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64748B"/>
                </a:solidFill>
                <a:latin typeface="Calibri"/>
              </a:rPr>
              <a:t>Duracell US-made battery + AMP modules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915399" y="4160520"/>
            <a:ext cx="265176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8915399" y="4160520"/>
            <a:ext cx="2651760" cy="73152"/>
          </a:xfrm>
          <a:prstGeom prst="rect">
            <a:avLst/>
          </a:prstGeom>
          <a:solidFill>
            <a:srgbClr val="C24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9052559" y="434340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E2761"/>
                </a:solidFill>
                <a:latin typeface="Georgia"/>
              </a:rPr>
              <a:t>Energy Community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052559" y="466344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C2414D"/>
                </a:solidFill>
                <a:latin typeface="Consolas"/>
              </a:rPr>
              <a:t>+3pp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52559" y="4937759"/>
            <a:ext cx="24231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64748B"/>
                </a:solidFill>
                <a:latin typeface="Calibri"/>
              </a:rPr>
              <a:t>TX brownfield + coal-county census tracts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5852160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E2761"/>
                </a:solidFill>
                <a:latin typeface="Calibri"/>
              </a:rPr>
              <a:t>Per-home ITC face: $396,127 × 48% = $190,141   ·   Program-wide ITC face: $190,141 × 80,000 = $15.2B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4748B"/>
                </a:solidFill>
                <a:latin typeface="Calibri"/>
              </a:rPr>
              <a:t>EDGE Energy IC Memo  ·  Confidential  ·  Source: IRC §48E adder framework · EDGE compliance workbook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Calibri"/>
              </a:rPr>
              <a:t>9 / 15</a:t>
            </a:r>
          </a:p>
        </p:txBody>
      </p:sp>
    </p:spTree>
    <p:extLst>
      <p:ext uri="{BB962C8B-B14F-4D97-AF65-F5344CB8AC3E}">
        <p14:creationId xmlns:p14="http://schemas.microsoft.com/office/powerpoint/2010/main" val="26903808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§704(B) ALLOCATION WATERFALL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247120" cy="3904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1E2761"/>
                </a:solidFill>
                <a:latin typeface="Georgia"/>
              </a:rPr>
              <a:t>Pre-flip 99/1 → Post-flip 5/95, per Rev. Proc. 2007-65 safe harbor.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1371600" cy="27432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C9A961"/>
                </a:solidFill>
                <a:latin typeface="Calibri"/>
              </a:rPr>
              <a:t>PRE-FLIP   (Years 1-5)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9456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E2761"/>
                </a:solidFill>
                <a:latin typeface="Georgia"/>
              </a:rPr>
              <a:t>Bank captures tax benefits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46520" y="1874519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C9A961"/>
                </a:solidFill>
                <a:latin typeface="Calibri"/>
              </a:rPr>
              <a:t>POST-FLIP   (Years 6+)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46520" y="219456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E2761"/>
                </a:solidFill>
                <a:latin typeface="Georgia"/>
              </a:rPr>
              <a:t>Sponsor takes over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788920"/>
            <a:ext cx="4572000" cy="50292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2907791"/>
            <a:ext cx="4297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Tax / Cash Item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640" y="2788920"/>
            <a:ext cx="3154680" cy="50292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257800" y="2907791"/>
            <a:ext cx="2971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Pre-Flip Allocation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75320" y="2788920"/>
            <a:ext cx="3657600" cy="50292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412480" y="2907791"/>
            <a:ext cx="3474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Post-Flip Allocation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291839"/>
            <a:ext cx="11384280" cy="502920"/>
          </a:xfrm>
          <a:prstGeom prst="rect">
            <a:avLst/>
          </a:prstGeom>
          <a:solidFill>
            <a:srgbClr val="FFFFFF"/>
          </a:solidFill>
          <a:ln w="31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3410711"/>
            <a:ext cx="4297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2937"/>
                </a:solidFill>
                <a:latin typeface="Calibri"/>
              </a:rPr>
              <a:t>§48E ITC (Year 1 of each vintage)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57800" y="3410711"/>
            <a:ext cx="2971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0F766E"/>
                </a:solidFill>
                <a:latin typeface="Consolas"/>
              </a:rPr>
              <a:t>99% Bank  /  1% Sponsor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3410711"/>
            <a:ext cx="3474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onsolas"/>
              </a:rPr>
              <a:t>N/A — one-time event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794759"/>
            <a:ext cx="11384280" cy="502920"/>
          </a:xfrm>
          <a:prstGeom prst="rect">
            <a:avLst/>
          </a:prstGeom>
          <a:solidFill>
            <a:srgbClr val="F5F5F0"/>
          </a:solidFill>
          <a:ln w="31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5800" y="3913631"/>
            <a:ext cx="4297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2937"/>
                </a:solidFill>
                <a:latin typeface="Calibri"/>
              </a:rPr>
              <a:t>§168(k) bonus depreciation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57800" y="3913631"/>
            <a:ext cx="2971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0F766E"/>
                </a:solidFill>
                <a:latin typeface="Consolas"/>
              </a:rPr>
              <a:t>99% Bank  /  1% Sponsor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3913631"/>
            <a:ext cx="3474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onsolas"/>
              </a:rPr>
              <a:t>5% Bank · 95% Sponsor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297679"/>
            <a:ext cx="11384280" cy="502920"/>
          </a:xfrm>
          <a:prstGeom prst="rect">
            <a:avLst/>
          </a:prstGeom>
          <a:solidFill>
            <a:srgbClr val="FFFFFF"/>
          </a:solidFill>
          <a:ln w="31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85800" y="4416551"/>
            <a:ext cx="4297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2937"/>
                </a:solidFill>
                <a:latin typeface="Calibri"/>
              </a:rPr>
              <a:t>§163(j) interest deduction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7800" y="4416551"/>
            <a:ext cx="2971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0F766E"/>
                </a:solidFill>
                <a:latin typeface="Consolas"/>
              </a:rPr>
              <a:t>99% Bank  /  1% Sponsor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4416551"/>
            <a:ext cx="3474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onsolas"/>
              </a:rPr>
              <a:t>5% Bank · 95% Sponsor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4800600"/>
            <a:ext cx="11384280" cy="502920"/>
          </a:xfrm>
          <a:prstGeom prst="rect">
            <a:avLst/>
          </a:prstGeom>
          <a:solidFill>
            <a:srgbClr val="F5F5F0"/>
          </a:solidFill>
          <a:ln w="31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85800" y="4919472"/>
            <a:ext cx="4297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2937"/>
                </a:solidFill>
                <a:latin typeface="Calibri"/>
              </a:rPr>
              <a:t>Operating revenue (PPA + VPP + REC)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57800" y="4919472"/>
            <a:ext cx="2971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0F766E"/>
                </a:solidFill>
                <a:latin typeface="Consolas"/>
              </a:rPr>
              <a:t>99% Bank  /  1% Sponsor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0" y="4919472"/>
            <a:ext cx="3474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onsolas"/>
              </a:rPr>
              <a:t>5% Bank · 95% Sponsor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5303520"/>
            <a:ext cx="11384280" cy="502920"/>
          </a:xfrm>
          <a:prstGeom prst="rect">
            <a:avLst/>
          </a:prstGeom>
          <a:solidFill>
            <a:srgbClr val="FFFFFF"/>
          </a:solidFill>
          <a:ln w="31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85800" y="5422392"/>
            <a:ext cx="4297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2937"/>
                </a:solidFill>
                <a:latin typeface="Calibri"/>
              </a:rPr>
              <a:t>Sponsor management fee deduction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57800" y="5422392"/>
            <a:ext cx="2971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0F766E"/>
                </a:solidFill>
                <a:latin typeface="Consolas"/>
              </a:rPr>
              <a:t>99% Bank  /  1% Sponsor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0" y="5422392"/>
            <a:ext cx="3474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onsolas"/>
              </a:rPr>
              <a:t>5% Bank · 95% Sponsor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5806440"/>
            <a:ext cx="11384280" cy="502920"/>
          </a:xfrm>
          <a:prstGeom prst="rect">
            <a:avLst/>
          </a:prstGeom>
          <a:solidFill>
            <a:srgbClr val="F5F5F0"/>
          </a:solidFill>
          <a:ln w="31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85800" y="5925312"/>
            <a:ext cx="4297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2937"/>
                </a:solidFill>
                <a:latin typeface="Calibri"/>
              </a:rPr>
              <a:t>Cash distributions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57800" y="5925312"/>
            <a:ext cx="2971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0F766E"/>
                </a:solidFill>
                <a:latin typeface="Consolas"/>
              </a:rPr>
              <a:t>99% Bank  /  1% Sponsor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12480" y="5925312"/>
            <a:ext cx="3474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onsolas"/>
              </a:rPr>
              <a:t>5% Bank · 95% Sponsor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6070600"/>
            <a:ext cx="1106424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1E2761"/>
                </a:solidFill>
                <a:latin typeface="Calibri"/>
              </a:rPr>
              <a:t>Yield-based flip triggers when Class A reaches 8% after-tax IRR (60-month minimum hold per Rev. Proc. 2007-65 §4.06).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4748B"/>
                </a:solidFill>
                <a:latin typeface="Calibri"/>
              </a:rPr>
              <a:t>EDGE Energy IC Memo  ·  Confidential  ·  Source: Rev. Proc. 2007-65 · draft JV LLC Operating Agreement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Calibri"/>
              </a:rPr>
              <a:t>10 / 15</a:t>
            </a:r>
          </a:p>
        </p:txBody>
      </p:sp>
    </p:spTree>
    <p:extLst>
      <p:ext uri="{BB962C8B-B14F-4D97-AF65-F5344CB8AC3E}">
        <p14:creationId xmlns:p14="http://schemas.microsoft.com/office/powerpoint/2010/main" val="40171417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SAFE HARBOR COMPLIANCE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247120" cy="3897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1E2761"/>
                </a:solidFill>
                <a:latin typeface="Georgia"/>
              </a:rPr>
              <a:t>Eight-point Rev. Proc. 2007-65 compliance — structured for safe-harbor treatment.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1371600" cy="27432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64748B"/>
                </a:solidFill>
                <a:latin typeface="Calibri"/>
              </a:rPr>
              <a:t>Compliance with each of the eight safe-harbor conditions supports IRS respect of the 99/1 → 5/95 split.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331720"/>
            <a:ext cx="269748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8640" y="2331720"/>
            <a:ext cx="2697480" cy="41148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2404872"/>
            <a:ext cx="2423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C9A961"/>
                </a:solidFill>
                <a:latin typeface="Georgia"/>
              </a:rPr>
              <a:t>§4.01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2395727"/>
            <a:ext cx="320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0F766E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880360"/>
            <a:ext cx="24231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2937"/>
                </a:solidFill>
                <a:latin typeface="Calibri"/>
              </a:rPr>
              <a:t>Minimum Class A interest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474720"/>
            <a:ext cx="24231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64748B"/>
                </a:solidFill>
                <a:latin typeface="Calibri"/>
              </a:rPr>
              <a:t>99% pre-flip / 5% post-flip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64992" y="2331720"/>
            <a:ext cx="269748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364992" y="2331720"/>
            <a:ext cx="2697480" cy="41148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502152" y="2404872"/>
            <a:ext cx="2423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C9A961"/>
                </a:solidFill>
                <a:latin typeface="Georgia"/>
              </a:rPr>
              <a:t>§4.02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50992" y="2395727"/>
            <a:ext cx="320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0F766E"/>
                </a:solidFill>
                <a:latin typeface="Calibri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02152" y="2880360"/>
            <a:ext cx="24231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2937"/>
                </a:solidFill>
                <a:latin typeface="Calibri"/>
              </a:rPr>
              <a:t>Minimum Class A contribution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2152" y="3474720"/>
            <a:ext cx="24231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64748B"/>
                </a:solidFill>
                <a:latin typeface="Calibri"/>
              </a:rPr>
              <a:t>60% of project capital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81344" y="2331720"/>
            <a:ext cx="269748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181344" y="2331720"/>
            <a:ext cx="2697480" cy="41148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318504" y="2404872"/>
            <a:ext cx="2423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C9A961"/>
                </a:solidFill>
                <a:latin typeface="Georgia"/>
              </a:rPr>
              <a:t>§4.03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67344" y="2395727"/>
            <a:ext cx="320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0F766E"/>
                </a:solidFill>
                <a:latin typeface="Calibri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18504" y="2880360"/>
            <a:ext cx="24231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2937"/>
                </a:solidFill>
                <a:latin typeface="Calibri"/>
              </a:rPr>
              <a:t>No sponsor guarantee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18504" y="3474720"/>
            <a:ext cx="24231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64748B"/>
                </a:solidFill>
                <a:latin typeface="Calibri"/>
              </a:rPr>
              <a:t>Confirmed in op agreement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97696" y="2331720"/>
            <a:ext cx="269748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997696" y="2331720"/>
            <a:ext cx="2697480" cy="41148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134856" y="2404872"/>
            <a:ext cx="2423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C9A961"/>
                </a:solidFill>
                <a:latin typeface="Georgia"/>
              </a:rPr>
              <a:t>§4.04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83696" y="2395727"/>
            <a:ext cx="320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0F766E"/>
                </a:solidFill>
                <a:latin typeface="Calibri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34856" y="2880360"/>
            <a:ext cx="24231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2937"/>
                </a:solidFill>
                <a:latin typeface="Calibri"/>
              </a:rPr>
              <a:t>Single project entity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34856" y="3474720"/>
            <a:ext cx="24231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64748B"/>
                </a:solidFill>
                <a:latin typeface="Calibri"/>
              </a:rPr>
              <a:t>1 SPE per vintage (5 SPEs in EastWest's tranche)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4297679"/>
            <a:ext cx="269748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548640" y="4297679"/>
            <a:ext cx="2697480" cy="41148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85800" y="4370831"/>
            <a:ext cx="2423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C9A961"/>
                </a:solidFill>
                <a:latin typeface="Georgia"/>
              </a:rPr>
              <a:t>§4.05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34640" y="4361688"/>
            <a:ext cx="320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0F766E"/>
                </a:solidFill>
                <a:latin typeface="Calibri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4846319"/>
            <a:ext cx="24231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2937"/>
                </a:solidFill>
                <a:latin typeface="Calibri"/>
              </a:rPr>
              <a:t>Cash follows tax allocations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5440679"/>
            <a:ext cx="24231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64748B"/>
                </a:solidFill>
                <a:latin typeface="Calibri"/>
              </a:rPr>
              <a:t>99/1 → 5/95 both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364992" y="4297679"/>
            <a:ext cx="269748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3364992" y="4297679"/>
            <a:ext cx="2697480" cy="41148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502152" y="4370831"/>
            <a:ext cx="2423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C9A961"/>
                </a:solidFill>
                <a:latin typeface="Georgia"/>
              </a:rPr>
              <a:t>§4.06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50992" y="4361688"/>
            <a:ext cx="320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0F766E"/>
                </a:solidFill>
                <a:latin typeface="Calibri"/>
              </a:rPr>
              <a:t>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02152" y="4846319"/>
            <a:ext cx="24231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2937"/>
                </a:solidFill>
                <a:latin typeface="Calibri"/>
              </a:rPr>
              <a:t>Minimum 5-year hold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02152" y="5440679"/>
            <a:ext cx="24231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64748B"/>
                </a:solidFill>
                <a:latin typeface="Calibri"/>
              </a:rPr>
              <a:t>60-mo. statutory min.; 72-mo. structural hold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81344" y="4297679"/>
            <a:ext cx="269748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6181344" y="4297679"/>
            <a:ext cx="2697480" cy="41148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318504" y="4370831"/>
            <a:ext cx="2423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C9A961"/>
                </a:solidFill>
                <a:latin typeface="Georgia"/>
              </a:rPr>
              <a:t>§4.07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67344" y="4361688"/>
            <a:ext cx="320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0F766E"/>
                </a:solidFill>
                <a:latin typeface="Calibri"/>
              </a:rPr>
              <a:t>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18504" y="4846319"/>
            <a:ext cx="24231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2937"/>
                </a:solidFill>
                <a:latin typeface="Calibri"/>
              </a:rPr>
              <a:t>No mandatory put on sponsor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18504" y="5440679"/>
            <a:ext cx="24231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64748B"/>
                </a:solidFill>
                <a:latin typeface="Calibri"/>
              </a:rPr>
              <a:t>Confirmed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997696" y="4297679"/>
            <a:ext cx="269748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8997696" y="4297679"/>
            <a:ext cx="2697480" cy="41148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9134856" y="4370831"/>
            <a:ext cx="2423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C9A961"/>
                </a:solidFill>
                <a:latin typeface="Georgia"/>
              </a:rPr>
              <a:t>§4.08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283696" y="4361688"/>
            <a:ext cx="320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0F766E"/>
                </a:solidFill>
                <a:latin typeface="Calibri"/>
              </a:rPr>
              <a:t>✓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34856" y="4846319"/>
            <a:ext cx="24231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2937"/>
                </a:solidFill>
                <a:latin typeface="Calibri"/>
              </a:rPr>
              <a:t>Purchase option at FMV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34856" y="5440679"/>
            <a:ext cx="24231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64748B"/>
                </a:solidFill>
                <a:latin typeface="Calibri"/>
              </a:rPr>
              <a:t>FMV-based at exercise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4748B"/>
                </a:solidFill>
                <a:latin typeface="Calibri"/>
              </a:rPr>
              <a:t>EDGE Energy IC Memo  ·  Confidential  ·  Source: Rev. Proc. 2007-65 §§4.01-4.08 · draft JV LLC Operating Agreement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Calibri"/>
              </a:rPr>
              <a:t>11 / 15</a:t>
            </a:r>
          </a:p>
        </p:txBody>
      </p:sp>
    </p:spTree>
    <p:extLst>
      <p:ext uri="{BB962C8B-B14F-4D97-AF65-F5344CB8AC3E}">
        <p14:creationId xmlns:p14="http://schemas.microsoft.com/office/powerpoint/2010/main" val="32241187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REQUIRED TAX ELECTIONS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2471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 i="0">
                <a:solidFill>
                  <a:srgbClr val="1E2761"/>
                </a:solidFill>
                <a:latin typeface="Georgia"/>
              </a:rPr>
              <a:t>Nine elections at JV's first Form 1065 filing.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1371600" cy="27432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64748B"/>
                </a:solidFill>
                <a:latin typeface="Calibri"/>
              </a:rPr>
              <a:t>Elections govern how tax items flow to Class A. Made at first Form 1065 filing per IRS rules; locked thereafter.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286000"/>
            <a:ext cx="11064240" cy="402336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2377440"/>
            <a:ext cx="155448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Citation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14600" y="2377440"/>
            <a:ext cx="283464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Election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23560" y="2377440"/>
            <a:ext cx="109728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Status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5160" y="2377440"/>
            <a:ext cx="448056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Purpose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688336"/>
            <a:ext cx="11064240" cy="402336"/>
          </a:xfrm>
          <a:prstGeom prst="rect">
            <a:avLst/>
          </a:prstGeom>
          <a:solidFill>
            <a:srgbClr val="FFFFFF"/>
          </a:solidFill>
          <a:ln w="31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2798064"/>
            <a:ext cx="155448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E2761"/>
                </a:solidFill>
                <a:latin typeface="Consolas"/>
              </a:rPr>
              <a:t>§704(b) QIO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14600" y="2798064"/>
            <a:ext cx="283464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2937"/>
                </a:solidFill>
                <a:latin typeface="Calibri"/>
              </a:rPr>
              <a:t>Qualified Income Offset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23560" y="2798064"/>
            <a:ext cx="109728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F766E"/>
                </a:solidFill>
                <a:latin typeface="Calibri"/>
              </a:rPr>
              <a:t>✓ MADE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5160" y="2798064"/>
            <a:ext cx="448056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1F2937"/>
                </a:solidFill>
                <a:latin typeface="Calibri"/>
              </a:rPr>
              <a:t>Satisfies SEE third prong (substantial economic effect test)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090672"/>
            <a:ext cx="11064240" cy="402336"/>
          </a:xfrm>
          <a:prstGeom prst="rect">
            <a:avLst/>
          </a:prstGeom>
          <a:solidFill>
            <a:srgbClr val="F5F5F0"/>
          </a:solidFill>
          <a:ln w="31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85800" y="3200400"/>
            <a:ext cx="155448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E2761"/>
                </a:solidFill>
                <a:latin typeface="Consolas"/>
              </a:rPr>
              <a:t>§704(c)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14600" y="3200400"/>
            <a:ext cx="283464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2937"/>
                </a:solidFill>
                <a:latin typeface="Calibri"/>
              </a:rPr>
              <a:t>Remedial method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23560" y="3200400"/>
            <a:ext cx="109728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F766E"/>
                </a:solidFill>
                <a:latin typeface="Calibri"/>
              </a:rPr>
              <a:t>✓ MADE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95160" y="3200400"/>
            <a:ext cx="448056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1F2937"/>
                </a:solidFill>
                <a:latin typeface="Calibri"/>
              </a:rPr>
              <a:t>Class A captures full book-equivalent depreciation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493008"/>
            <a:ext cx="11064240" cy="402336"/>
          </a:xfrm>
          <a:prstGeom prst="rect">
            <a:avLst/>
          </a:prstGeom>
          <a:solidFill>
            <a:srgbClr val="FFFFFF"/>
          </a:solidFill>
          <a:ln w="31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85800" y="3602736"/>
            <a:ext cx="155448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E2761"/>
                </a:solidFill>
                <a:latin typeface="Consolas"/>
              </a:rPr>
              <a:t>§168(k)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14600" y="3602736"/>
            <a:ext cx="283464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2937"/>
                </a:solidFill>
                <a:latin typeface="Calibri"/>
              </a:rPr>
              <a:t>100% bonus depreciation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3602736"/>
            <a:ext cx="109728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F766E"/>
                </a:solidFill>
                <a:latin typeface="Calibri"/>
              </a:rPr>
              <a:t>✓ MADE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95160" y="3602736"/>
            <a:ext cx="448056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1F2937"/>
                </a:solidFill>
                <a:latin typeface="Calibri"/>
              </a:rPr>
              <a:t>Front-loads MACRS into pre-flip Year 1 (no opt-out)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3895344"/>
            <a:ext cx="11064240" cy="402336"/>
          </a:xfrm>
          <a:prstGeom prst="rect">
            <a:avLst/>
          </a:prstGeom>
          <a:solidFill>
            <a:srgbClr val="F5F5F0"/>
          </a:solidFill>
          <a:ln w="31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85800" y="4005072"/>
            <a:ext cx="155448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E2761"/>
                </a:solidFill>
                <a:latin typeface="Consolas"/>
              </a:rPr>
              <a:t>§50(c)(3)(A)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14600" y="4005072"/>
            <a:ext cx="283464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2937"/>
                </a:solidFill>
                <a:latin typeface="Calibri"/>
              </a:rPr>
              <a:t>ITC basis reduction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23560" y="4005072"/>
            <a:ext cx="109728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MANDATORY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95160" y="4005072"/>
            <a:ext cx="448056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1F2937"/>
                </a:solidFill>
                <a:latin typeface="Calibri"/>
              </a:rPr>
              <a:t>Depreciable basis reduced by 50% of credit claimed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4297680"/>
            <a:ext cx="11064240" cy="402336"/>
          </a:xfrm>
          <a:prstGeom prst="rect">
            <a:avLst/>
          </a:prstGeom>
          <a:solidFill>
            <a:srgbClr val="FFFFFF"/>
          </a:solidFill>
          <a:ln w="31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85800" y="4407408"/>
            <a:ext cx="155448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E2761"/>
                </a:solidFill>
                <a:latin typeface="Consolas"/>
              </a:rPr>
              <a:t>§263A(f)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514600" y="4407408"/>
            <a:ext cx="283464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2937"/>
                </a:solidFill>
                <a:latin typeface="Calibri"/>
              </a:rPr>
              <a:t>Capitalized interest into basis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23560" y="4407408"/>
            <a:ext cx="109728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F766E"/>
                </a:solidFill>
                <a:latin typeface="Calibri"/>
              </a:rPr>
              <a:t>✓ MADE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95160" y="4407408"/>
            <a:ext cx="448056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1F2937"/>
                </a:solidFill>
                <a:latin typeface="Calibri"/>
              </a:rPr>
              <a:t>$7,608/unit basis lift (cap'd construction-period interest)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4700016"/>
            <a:ext cx="11064240" cy="402336"/>
          </a:xfrm>
          <a:prstGeom prst="rect">
            <a:avLst/>
          </a:prstGeom>
          <a:solidFill>
            <a:srgbClr val="F5F5F0"/>
          </a:solidFill>
          <a:ln w="31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85800" y="4809744"/>
            <a:ext cx="155448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E2761"/>
                </a:solidFill>
                <a:latin typeface="Consolas"/>
              </a:rPr>
              <a:t>§168(i)(4)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514600" y="4809744"/>
            <a:ext cx="283464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2937"/>
                </a:solidFill>
                <a:latin typeface="Calibri"/>
              </a:rPr>
              <a:t>General Asset Account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4809744"/>
            <a:ext cx="109728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F766E"/>
                </a:solidFill>
                <a:latin typeface="Calibri"/>
              </a:rPr>
              <a:t>✓ MADE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95160" y="4809744"/>
            <a:ext cx="448056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1F2937"/>
                </a:solidFill>
                <a:latin typeface="Calibri"/>
              </a:rPr>
              <a:t>Simplifies partial disposition rules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" y="5102352"/>
            <a:ext cx="11064240" cy="402336"/>
          </a:xfrm>
          <a:prstGeom prst="rect">
            <a:avLst/>
          </a:prstGeom>
          <a:solidFill>
            <a:srgbClr val="FFFFFF"/>
          </a:solidFill>
          <a:ln w="31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85800" y="5212080"/>
            <a:ext cx="155448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E2761"/>
                </a:solidFill>
                <a:latin typeface="Consolas"/>
              </a:rPr>
              <a:t>§163(j)(7)(A)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514600" y="5212080"/>
            <a:ext cx="283464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2937"/>
                </a:solidFill>
                <a:latin typeface="Calibri"/>
              </a:rPr>
              <a:t>Real property trade/business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23560" y="5212080"/>
            <a:ext cx="109728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4748B"/>
                </a:solidFill>
                <a:latin typeface="Calibri"/>
              </a:rPr>
              <a:t>NOT ELECTED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95160" y="5212080"/>
            <a:ext cx="448056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1F2937"/>
                </a:solidFill>
                <a:latin typeface="Calibri"/>
              </a:rPr>
              <a:t>Preserves full interest deduction at JV level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48640" y="5504688"/>
            <a:ext cx="11064240" cy="402336"/>
          </a:xfrm>
          <a:prstGeom prst="rect">
            <a:avLst/>
          </a:prstGeom>
          <a:solidFill>
            <a:srgbClr val="F5F5F0"/>
          </a:solidFill>
          <a:ln w="31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85800" y="5614416"/>
            <a:ext cx="155448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E2761"/>
                </a:solidFill>
                <a:latin typeface="Consolas"/>
              </a:rPr>
              <a:t>§6418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14600" y="5614416"/>
            <a:ext cx="283464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2937"/>
                </a:solidFill>
                <a:latin typeface="Calibri"/>
              </a:rPr>
              <a:t>Transferability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23560" y="5614416"/>
            <a:ext cx="109728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4748B"/>
                </a:solidFill>
                <a:latin typeface="Calibri"/>
              </a:rPr>
              <a:t>NOT ELECTED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95160" y="5614416"/>
            <a:ext cx="448056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1F2937"/>
                </a:solidFill>
                <a:latin typeface="Calibri"/>
              </a:rPr>
              <a:t>Credit stays at partnership for §704(b) allocation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48640" y="5907024"/>
            <a:ext cx="11064240" cy="402336"/>
          </a:xfrm>
          <a:prstGeom prst="rect">
            <a:avLst/>
          </a:prstGeom>
          <a:solidFill>
            <a:srgbClr val="FFFFFF"/>
          </a:solidFill>
          <a:ln w="31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85800" y="6016752"/>
            <a:ext cx="155448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E2761"/>
                </a:solidFill>
                <a:latin typeface="Consolas"/>
              </a:rPr>
              <a:t>§754 + §743(b)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514600" y="6016752"/>
            <a:ext cx="283464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2937"/>
                </a:solidFill>
                <a:latin typeface="Calibri"/>
              </a:rPr>
              <a:t>Basis adjustment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23560" y="6016752"/>
            <a:ext cx="109728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F766E"/>
                </a:solidFill>
                <a:latin typeface="Calibri"/>
              </a:rPr>
              <a:t>✓ MADE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995160" y="6016752"/>
            <a:ext cx="448056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1F2937"/>
                </a:solidFill>
                <a:latin typeface="Calibri"/>
              </a:rPr>
              <a:t>Basis step-up on Class A buy-in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4748B"/>
                </a:solidFill>
                <a:latin typeface="Calibri"/>
              </a:rPr>
              <a:t>EDGE Energy IC Memo  ·  Confidential  ·  Source: Outside tax counsel opinion (pending) · IRC §704 regulations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Calibri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RISK FRAMEWORK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247120" cy="3897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1E2761"/>
                </a:solidFill>
                <a:latin typeface="Georgia"/>
              </a:rPr>
              <a:t>Five-layer protection stack — insurance, indemnity, opinion, structure.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1371600" cy="27432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48640" y="1874519"/>
            <a:ext cx="11064240" cy="76809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1874519"/>
            <a:ext cx="73152" cy="768096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1938527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§48E ITC recapture (5-yr period)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868680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F2937"/>
                </a:solidFill>
                <a:latin typeface="Calibri"/>
              </a:rPr>
              <a:t>Aon-issued recapture insurance policy, A-rated (AM Best) carrier, 4¢/$ premium (~$7.5M on $188M gross ITC face (99% allocated to Class A) across 5 vintages). First-loss before sponsor indemnity. Covers all §50(a) and §6418(g)(3) recapture events.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9784080" y="2039112"/>
            <a:ext cx="1691640" cy="36576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784080" y="2039112"/>
            <a:ext cx="16916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INSURED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715768"/>
            <a:ext cx="11064240" cy="76809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2715768"/>
            <a:ext cx="73152" cy="768096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77240" y="2779775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PWA compliance failure (5× penalty)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035808"/>
            <a:ext cx="868680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F2937"/>
                </a:solidFill>
                <a:latin typeface="Calibri"/>
              </a:rPr>
              <a:t>Sponsor PWA covenant + uncapped indemnity for breach. Prevailing wage records retained 5 years. Apprenticeship documentation per §45(b)(7). Verified through third-party labor audit.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784080" y="2880360"/>
            <a:ext cx="1691640" cy="36576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784080" y="2880360"/>
            <a:ext cx="16916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INDEMNIFIED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557015"/>
            <a:ext cx="11064240" cy="76809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48640" y="3557015"/>
            <a:ext cx="73152" cy="768096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77240" y="3621023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FEOC compliance failure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877055"/>
            <a:ext cx="868680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F2937"/>
                </a:solidFill>
                <a:latin typeface="Calibri"/>
              </a:rPr>
              <a:t>Sponsor warrants no Foreign Entity of Concern at placed-in-service. Engine FEOC gate at PIS zeros the credit if non-compliant per §45X(c)(7). Sponsor indemnifies for any breach.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784080" y="3721607"/>
            <a:ext cx="1691640" cy="36576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784080" y="3721607"/>
            <a:ext cx="16916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WARRANTED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398264"/>
            <a:ext cx="11064240" cy="76809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548640" y="4398264"/>
            <a:ext cx="73152" cy="768096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77240" y="4462272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§704(b) SEE reallocation by IRS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4718304"/>
            <a:ext cx="868680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F2937"/>
                </a:solidFill>
                <a:latin typeface="Calibri"/>
              </a:rPr>
              <a:t>Outside tax counsel opinion pending on §704(b) Qualified Income Offset + Rev. Proc. 2007-65 safe-harbor compliance. Opinion to be finalized upon structure agreement with EastWest Bank; supplemental opinion available from Akin Gump or DLA Piper if required. Sponsor 5-7 yr tax indemnity tail.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784080" y="4562856"/>
            <a:ext cx="1691640" cy="36576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784080" y="4562856"/>
            <a:ext cx="16916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OPINED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5239512"/>
            <a:ext cx="11064240" cy="76809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548640" y="5239512"/>
            <a:ext cx="73152" cy="768096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77240" y="530352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Sponsor operational default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5559552"/>
            <a:ext cx="868680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F2937"/>
                </a:solidFill>
                <a:latin typeface="Calibri"/>
              </a:rPr>
              <a:t>Class A step-in rights on covenant defaults. Class A consent rights on material amendments, asset sales, additional debt. Sponsor 5-yr tax indemnity tail.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784080" y="5404104"/>
            <a:ext cx="1691640" cy="36576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784080" y="5404104"/>
            <a:ext cx="16916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STRUCTURED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4748B"/>
                </a:solidFill>
                <a:latin typeface="Calibri"/>
              </a:rPr>
              <a:t>EDGE Energy IC Memo  ·  Confidential  ·  Source: Aon recapture insurance term sheet · Outside tax counsel opinion (pending)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Calibri"/>
              </a:rPr>
              <a:t>13 / 15</a:t>
            </a:r>
          </a:p>
        </p:txBody>
      </p:sp>
    </p:spTree>
    <p:extLst>
      <p:ext uri="{BB962C8B-B14F-4D97-AF65-F5344CB8AC3E}">
        <p14:creationId xmlns:p14="http://schemas.microsoft.com/office/powerpoint/2010/main" val="2760747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TIMELINE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247120" cy="3897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1E2761"/>
                </a:solidFill>
                <a:latin typeface="Georgia"/>
              </a:rPr>
              <a:t>Six-month path from diligence kickoff to first vintage in service.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1371600" cy="27432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463040" y="2697480"/>
            <a:ext cx="9144000" cy="2743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325880" y="2468879"/>
            <a:ext cx="457200" cy="457200"/>
          </a:xfrm>
          <a:prstGeom prst="ellipse">
            <a:avLst/>
          </a:prstGeom>
          <a:solidFill>
            <a:srgbClr val="1E2761"/>
          </a:solidFill>
          <a:ln w="25400">
            <a:solidFill>
              <a:srgbClr val="C9A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325880" y="2487168"/>
            <a:ext cx="4572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C9A961"/>
                </a:solidFill>
                <a:latin typeface="Georgia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154680"/>
            <a:ext cx="260604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48640" y="3154680"/>
            <a:ext cx="2606040" cy="4572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3291839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E2761"/>
                </a:solidFill>
                <a:latin typeface="Georgia"/>
              </a:rPr>
              <a:t>Diligence kickoff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611880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2 weeks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931920"/>
            <a:ext cx="23317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4748B"/>
                </a:solidFill>
                <a:latin typeface="Calibri"/>
              </a:rPr>
              <a:t>Tax opinion + USPAP appraisal + insurance quote review</a:t>
            </a:r>
          </a:p>
        </p:txBody>
      </p:sp>
      <p:sp>
        <p:nvSpPr>
          <p:cNvPr id="13" name="Oval 12"/>
          <p:cNvSpPr/>
          <p:nvPr/>
        </p:nvSpPr>
        <p:spPr>
          <a:xfrm>
            <a:off x="4114800" y="2468879"/>
            <a:ext cx="457200" cy="457200"/>
          </a:xfrm>
          <a:prstGeom prst="ellipse">
            <a:avLst/>
          </a:prstGeom>
          <a:solidFill>
            <a:srgbClr val="1E2761"/>
          </a:solidFill>
          <a:ln w="25400">
            <a:solidFill>
              <a:srgbClr val="C9A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114800" y="2487168"/>
            <a:ext cx="4572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C9A961"/>
                </a:solidFill>
                <a:latin typeface="Georgia"/>
              </a:rP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37560" y="3154680"/>
            <a:ext cx="260604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337560" y="3154680"/>
            <a:ext cx="2606040" cy="4572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474720" y="3291839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E2761"/>
                </a:solidFill>
                <a:latin typeface="Georgia"/>
              </a:rPr>
              <a:t>Term sheet execution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0" y="3611880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Early Q3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3931920"/>
            <a:ext cx="23317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4748B"/>
                </a:solidFill>
                <a:latin typeface="Calibri"/>
              </a:rPr>
              <a:t>Class A capital commitment + flip terms + indemnity tail</a:t>
            </a:r>
          </a:p>
        </p:txBody>
      </p:sp>
      <p:sp>
        <p:nvSpPr>
          <p:cNvPr id="20" name="Oval 19"/>
          <p:cNvSpPr/>
          <p:nvPr/>
        </p:nvSpPr>
        <p:spPr>
          <a:xfrm>
            <a:off x="6903720" y="2468879"/>
            <a:ext cx="457200" cy="457200"/>
          </a:xfrm>
          <a:prstGeom prst="ellipse">
            <a:avLst/>
          </a:prstGeom>
          <a:solidFill>
            <a:srgbClr val="1E2761"/>
          </a:solidFill>
          <a:ln w="25400">
            <a:solidFill>
              <a:srgbClr val="C9A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903720" y="2487168"/>
            <a:ext cx="4572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C9A961"/>
                </a:solidFill>
                <a:latin typeface="Georgia"/>
              </a:rPr>
              <a:t>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3154680"/>
            <a:ext cx="260604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126480" y="3154680"/>
            <a:ext cx="2606040" cy="4572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263640" y="3291839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E2761"/>
                </a:solidFill>
                <a:latin typeface="Georgia"/>
              </a:rPr>
              <a:t>Definitive agreements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3611880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Q4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3931920"/>
            <a:ext cx="23317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4748B"/>
                </a:solidFill>
                <a:latin typeface="Calibri"/>
              </a:rPr>
              <a:t>LLC OpAg + ECCA + Side Letter + insurance binder</a:t>
            </a:r>
          </a:p>
        </p:txBody>
      </p:sp>
      <p:sp>
        <p:nvSpPr>
          <p:cNvPr id="27" name="Oval 26"/>
          <p:cNvSpPr/>
          <p:nvPr/>
        </p:nvSpPr>
        <p:spPr>
          <a:xfrm>
            <a:off x="9692640" y="2468879"/>
            <a:ext cx="457200" cy="457200"/>
          </a:xfrm>
          <a:prstGeom prst="ellipse">
            <a:avLst/>
          </a:prstGeom>
          <a:solidFill>
            <a:srgbClr val="1E2761"/>
          </a:solidFill>
          <a:ln w="25400">
            <a:solidFill>
              <a:srgbClr val="C9A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692640" y="2487168"/>
            <a:ext cx="4572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C9A961"/>
                </a:solidFill>
                <a:latin typeface="Georgia"/>
              </a:rPr>
              <a:t>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915400" y="3154680"/>
            <a:ext cx="260604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8915400" y="3154680"/>
            <a:ext cx="2606040" cy="4572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052560" y="3291839"/>
            <a:ext cx="2331720" cy="2111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E2761"/>
                </a:solidFill>
                <a:latin typeface="Georgia"/>
              </a:rPr>
              <a:t>Vintage 1 placed in service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52560" y="3611880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Q4 2026 / Q1 2027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52560" y="3931920"/>
            <a:ext cx="23317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4748B"/>
                </a:solidFill>
                <a:latin typeface="Calibri"/>
              </a:rPr>
              <a:t>Vintage 1: 200 homes — first $6.24M tranche deployed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5440680"/>
            <a:ext cx="11064240" cy="1005840"/>
          </a:xfrm>
          <a:prstGeom prst="rect">
            <a:avLst/>
          </a:prstGeom>
          <a:solidFill>
            <a:srgbClr val="F5F5F0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548640" y="5440680"/>
            <a:ext cx="73152" cy="100584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77240" y="553212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E2761"/>
                </a:solidFill>
                <a:latin typeface="Georgia"/>
              </a:rPr>
              <a:t>What we need from EastWest Bank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585216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(1) Initial diligence go/no-go within 2 weeks    (2) Confirm structure preference (vintage-laddered vs lump-sum)    (3) Tax counsel introduction for outside opinion coordination    (4) Confirmation of insurance carrier — Aon / Marsh / WTW (rate · capacity · A-rating)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4748B"/>
                </a:solidFill>
                <a:latin typeface="Calibri"/>
              </a:rPr>
              <a:t>EDGE Energy  ·  Tax Equity IC Memo  ·  Confidential — Prepared for EastWest Bank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Calibri"/>
              </a:rPr>
              <a:t>14 / 15</a:t>
            </a:r>
          </a:p>
        </p:txBody>
      </p:sp>
    </p:spTree>
    <p:extLst>
      <p:ext uri="{BB962C8B-B14F-4D97-AF65-F5344CB8AC3E}">
        <p14:creationId xmlns:p14="http://schemas.microsoft.com/office/powerpoint/2010/main" val="17130244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RECOMMENDED 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105156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0" i="0">
                <a:solidFill>
                  <a:srgbClr val="FFFFFF"/>
                </a:solidFill>
                <a:latin typeface="Georgia"/>
              </a:rPr>
              <a:t>Commit $31.2M to Class 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69748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1">
                <a:solidFill>
                  <a:srgbClr val="E8D7A0"/>
                </a:solidFill>
                <a:latin typeface="Georgia"/>
              </a:rPr>
              <a:t>Capture 8.4% after-tax IRR.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520440"/>
            <a:ext cx="2286000" cy="36576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914400" y="3977639"/>
            <a:ext cx="45720" cy="41148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43000" y="3931920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$297M of total value captured over 8 years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4206240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E8D7A0"/>
                </a:solidFill>
                <a:latin typeface="Calibri"/>
              </a:rPr>
              <a:t>vs. $31.2M cash invested + operating shields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4572000"/>
            <a:ext cx="45720" cy="41148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143000" y="4526280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Vintage-laddered to match $50M/yr appetite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800600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E8D7A0"/>
                </a:solidFill>
                <a:latin typeface="Calibri"/>
              </a:rPr>
              <a:t>exactly — no carry-forward erosion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5166360"/>
            <a:ext cx="45720" cy="41148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43000" y="5120640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Rev. Proc. 2007-65 safe harbor compliant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394960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E8D7A0"/>
                </a:solidFill>
                <a:latin typeface="Calibri"/>
              </a:rPr>
              <a:t>Structured to satisfy each of the eight safe-harbor conditions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943600"/>
            <a:ext cx="10515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Direct enquiries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6199632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FFFFFF"/>
                </a:solidFill>
                <a:latin typeface="Calibri"/>
              </a:rPr>
              <a:t>Paul Christodoulou  ·  CFO, EDGE Energy  ·  paul@energydevelopmentgroup.com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 i="1">
                <a:solidFill>
                  <a:srgbClr val="C9A961"/>
                </a:solidFill>
              </a:rPr>
              <a:t>15 /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2688D87-11C2-4241-AC19-2CC7F9F10187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18dbe444-3318-4e53-bd0d-4b49fb3180c2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65</TotalTime>
  <Words>2591</Words>
  <Application>Microsoft Macintosh PowerPoint</Application>
  <PresentationFormat>Widescreen</PresentationFormat>
  <Paragraphs>485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Arial</vt:lpstr>
      <vt:lpstr>Calibri</vt:lpstr>
      <vt:lpstr>Consolas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paul christodoulou</cp:lastModifiedBy>
  <cp:revision>3</cp:revision>
  <dcterms:created xsi:type="dcterms:W3CDTF">2013-01-27T09:14:16Z</dcterms:created>
  <dcterms:modified xsi:type="dcterms:W3CDTF">2026-05-27T04:25:34Z</dcterms:modified>
  <cp:category/>
</cp:coreProperties>
</file>